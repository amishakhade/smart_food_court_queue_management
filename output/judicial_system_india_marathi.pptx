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77420fc654c4e" /><Relationship Type="http://schemas.openxmlformats.org/officeDocument/2006/relationships/extended-properties" Target="/docProps/app.xml" Id="R3508716fca0249a5" /><Relationship Type="http://schemas.openxmlformats.org/officeDocument/2006/relationships/officeDocument" Target="/ppt/presentation.xml" Id="R09f25dbc34cf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d146339db47c4"/>
  </p:sldMasterIdLst>
  <p:notesMasterIdLst>
    <p:notesMasterId xmlns:r="http://schemas.openxmlformats.org/officeDocument/2006/relationships" r:id="R6323fd4d695546b5"/>
  </p:notesMasterIdLst>
  <p:sldIdLst>
    <p:sldId xmlns:r="http://schemas.openxmlformats.org/officeDocument/2006/relationships" id="256" r:id="R52e1ad4f47db4e4b"/>
    <p:sldId xmlns:r="http://schemas.openxmlformats.org/officeDocument/2006/relationships" id="257" r:id="Re70e31fc9b344f0e"/>
    <p:sldId xmlns:r="http://schemas.openxmlformats.org/officeDocument/2006/relationships" id="258" r:id="R903a0c4ac4194be0"/>
    <p:sldId xmlns:r="http://schemas.openxmlformats.org/officeDocument/2006/relationships" id="259" r:id="R95b8733f33fc4cc4"/>
    <p:sldId xmlns:r="http://schemas.openxmlformats.org/officeDocument/2006/relationships" id="260" r:id="R65f6f04a17f247d7"/>
    <p:sldId xmlns:r="http://schemas.openxmlformats.org/officeDocument/2006/relationships" id="261" r:id="R701f161919574160"/>
    <p:sldId xmlns:r="http://schemas.openxmlformats.org/officeDocument/2006/relationships" id="262" r:id="Rbd96fc5bfa7d4f58"/>
    <p:sldId xmlns:r="http://schemas.openxmlformats.org/officeDocument/2006/relationships" id="263" r:id="R1f25729df45a40d7"/>
    <p:sldId xmlns:r="http://schemas.openxmlformats.org/officeDocument/2006/relationships" id="264" r:id="R6ef621acbb5140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7f1208f8c7456a" /><Relationship Type="http://schemas.openxmlformats.org/officeDocument/2006/relationships/slideMaster" Target="/ppt/slideMasters/slideMaster1.xml" Id="R4d0d146339db47c4" /><Relationship Type="http://schemas.openxmlformats.org/officeDocument/2006/relationships/notesMaster" Target="/ppt/notesMasters/notesMaster1.xml" Id="R6323fd4d695546b5" /><Relationship Type="http://schemas.openxmlformats.org/officeDocument/2006/relationships/presProps" Target="/ppt/presProps.xml" Id="R0c0f207dc3974e81" /><Relationship Type="http://schemas.openxmlformats.org/officeDocument/2006/relationships/tableStyles" Target="/ppt/tableStyles.xml" Id="Rf18becc649a34870" /><Relationship Type="http://schemas.openxmlformats.org/officeDocument/2006/relationships/slide" Target="/ppt/slides/slide1.xml" Id="R52e1ad4f47db4e4b" /><Relationship Type="http://schemas.openxmlformats.org/officeDocument/2006/relationships/slide" Target="/ppt/slides/slide2.xml" Id="Re70e31fc9b344f0e" /><Relationship Type="http://schemas.openxmlformats.org/officeDocument/2006/relationships/slide" Target="/ppt/slides/slide3.xml" Id="R903a0c4ac4194be0" /><Relationship Type="http://schemas.openxmlformats.org/officeDocument/2006/relationships/slide" Target="/ppt/slides/slide4.xml" Id="R95b8733f33fc4cc4" /><Relationship Type="http://schemas.openxmlformats.org/officeDocument/2006/relationships/slide" Target="/ppt/slides/slide5.xml" Id="R65f6f04a17f247d7" /><Relationship Type="http://schemas.openxmlformats.org/officeDocument/2006/relationships/slide" Target="/ppt/slides/slide6.xml" Id="R701f161919574160" /><Relationship Type="http://schemas.openxmlformats.org/officeDocument/2006/relationships/slide" Target="/ppt/slides/slide7.xml" Id="Rbd96fc5bfa7d4f58" /><Relationship Type="http://schemas.openxmlformats.org/officeDocument/2006/relationships/slide" Target="/ppt/slides/slide8.xml" Id="R1f25729df45a40d7" /><Relationship Type="http://schemas.openxmlformats.org/officeDocument/2006/relationships/slide" Target="/ppt/slides/slide9.xml" Id="R6ef621acbb5140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3bcd8600e49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e2ee1ec544a1e" /><Relationship Type="http://schemas.openxmlformats.org/officeDocument/2006/relationships/notesMaster" Target="/ppt/notesMasters/notesMaster1.xml" Id="R5140a0199ddd40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de775fb3524fae" /><Relationship Type="http://schemas.openxmlformats.org/officeDocument/2006/relationships/notesMaster" Target="/ppt/notesMasters/notesMaster1.xml" Id="R5c47e5310b4b4b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5d1d4dea424a72" /><Relationship Type="http://schemas.openxmlformats.org/officeDocument/2006/relationships/notesMaster" Target="/ppt/notesMasters/notesMaster1.xml" Id="Rcdfe9e29f5f44c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3f9ede60c4056" /><Relationship Type="http://schemas.openxmlformats.org/officeDocument/2006/relationships/notesMaster" Target="/ppt/notesMasters/notesMaster1.xml" Id="Rf030d4b80c2544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b6fdb2cac84ab2" /><Relationship Type="http://schemas.openxmlformats.org/officeDocument/2006/relationships/notesMaster" Target="/ppt/notesMasters/notesMaster1.xml" Id="Rfcfcb731acd2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65713473c34a29" /><Relationship Type="http://schemas.openxmlformats.org/officeDocument/2006/relationships/notesMaster" Target="/ppt/notesMasters/notesMaster1.xml" Id="R90286a11dda545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9a84f4d58340ad" /><Relationship Type="http://schemas.openxmlformats.org/officeDocument/2006/relationships/notesMaster" Target="/ppt/notesMasters/notesMaster1.xml" Id="Rb41c14c4130e4f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f2ed39afc8421f" /><Relationship Type="http://schemas.openxmlformats.org/officeDocument/2006/relationships/notesMaster" Target="/ppt/notesMasters/notesMaster1.xml" Id="R6607c4e2335f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686d133aa4f1d" /><Relationship Type="http://schemas.openxmlformats.org/officeDocument/2006/relationships/notesMaster" Target="/ppt/notesMasters/notesMaster1.xml" Id="R0c908a50d7444c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a007b5f0e4d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3fcebd9514e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df162f94d44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41b3de96149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c3600bc474c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16646505549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4AFE08-8187-482F-88D6-E8E499D35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B3EA93-0AF3-4A8D-8C3C-3B2B38D5BE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FF7F86-926D-4DB4-8903-ADFAE7EBB4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22A673-2EB9-49F3-A99F-8F14B909E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A66B8E-AB07-41F2-AD6E-A8ABF9E155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B83A22-F026-4C08-B57E-A291458B6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67C48F-184B-4BF5-A637-F7ED9D1EC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86DB73-3E92-49EE-9F7B-9698857C7A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A5065D-F967-4F4E-B6B3-4A2E28601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51808D-6BEF-4738-BF17-93C40FEEF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637243222142ef" /><Relationship Type="http://schemas.openxmlformats.org/officeDocument/2006/relationships/slideLayout" Target="/ppt/slideLayouts/slideLayout1.xml" Id="R8840f4c70ef44c71" /><Relationship Type="http://schemas.openxmlformats.org/officeDocument/2006/relationships/slideLayout" Target="/ppt/slideLayouts/slideLayout2.xml" Id="R5134a4d7e6894a67" /><Relationship Type="http://schemas.openxmlformats.org/officeDocument/2006/relationships/slideLayout" Target="/ppt/slideLayouts/slideLayout3.xml" Id="R64f44f62a36f45c5" /><Relationship Type="http://schemas.openxmlformats.org/officeDocument/2006/relationships/slideLayout" Target="/ppt/slideLayouts/slideLayout4.xml" Id="Re5286259afb44bcb" /><Relationship Type="http://schemas.openxmlformats.org/officeDocument/2006/relationships/slideLayout" Target="/ppt/slideLayouts/slideLayout5.xml" Id="R4d23bd8879394983" /><Relationship Type="http://schemas.openxmlformats.org/officeDocument/2006/relationships/slideLayout" Target="/ppt/slideLayouts/slideLayout6.xml" Id="Rbac2c96f7c10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40f4c70ef44c71"/>
    <p:sldLayoutId xmlns:r="http://schemas.openxmlformats.org/officeDocument/2006/relationships" id="2147483650" r:id="R5134a4d7e6894a67"/>
    <p:sldLayoutId xmlns:r="http://schemas.openxmlformats.org/officeDocument/2006/relationships" id="2147483651" r:id="R64f44f62a36f45c5"/>
    <p:sldLayoutId xmlns:r="http://schemas.openxmlformats.org/officeDocument/2006/relationships" id="2147483652" r:id="Re5286259afb44bcb"/>
    <p:sldLayoutId xmlns:r="http://schemas.openxmlformats.org/officeDocument/2006/relationships" id="2147483653" r:id="R4d23bd8879394983"/>
    <p:sldLayoutId xmlns:r="http://schemas.openxmlformats.org/officeDocument/2006/relationships" id="2147483654" r:id="Rbac2c96f7c10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2c442edb64ff8" /><Relationship Type="http://schemas.openxmlformats.org/officeDocument/2006/relationships/notesSlide" Target="/ppt/notesSlides/notesSlide1.xml" Id="R36b3fdaea31d47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66f8891d14762" /><Relationship Type="http://schemas.openxmlformats.org/officeDocument/2006/relationships/notesSlide" Target="/ppt/notesSlides/notesSlide2.xml" Id="Rb1857ee4c6364b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6562dc4ab42cd" /><Relationship Type="http://schemas.openxmlformats.org/officeDocument/2006/relationships/notesSlide" Target="/ppt/notesSlides/notesSlide3.xml" Id="R04e41e41d9fe4b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bd0a870d74a8c" /><Relationship Type="http://schemas.openxmlformats.org/officeDocument/2006/relationships/notesSlide" Target="/ppt/notesSlides/notesSlide4.xml" Id="R00e37e15972646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187001d244843" /><Relationship Type="http://schemas.openxmlformats.org/officeDocument/2006/relationships/notesSlide" Target="/ppt/notesSlides/notesSlide5.xml" Id="R52a52aebe86c43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5cb2a65674407" /><Relationship Type="http://schemas.openxmlformats.org/officeDocument/2006/relationships/notesSlide" Target="/ppt/notesSlides/notesSlide6.xml" Id="Rfeb3009e8c7343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b25cd445a428e" /><Relationship Type="http://schemas.openxmlformats.org/officeDocument/2006/relationships/notesSlide" Target="/ppt/notesSlides/notesSlide7.xml" Id="Rb4dc5f0fba6040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5b767a93140bb" /><Relationship Type="http://schemas.openxmlformats.org/officeDocument/2006/relationships/notesSlide" Target="/ppt/notesSlides/notesSlide8.xml" Id="Rf7d61ac762f94f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2db0c296b4c67" /><Relationship Type="http://schemas.openxmlformats.org/officeDocument/2006/relationships/notesSlide" Target="/ppt/notesSlides/notesSlide9.xml" Id="R0e4a1745938f45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4A9D5-4E39-4797-B9DA-E798770E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4C77A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4C77A"/>
                </a:solidFill>
              </a:defRPr>
            </a:pPr>
            <a:r>
              <a:rPr sz="1200" b="1">
                <a:solidFill>
                  <a:srgbClr val="F4C77A"/>
                </a:solidFill>
              </a:rPr>
              <a:t>भारतीय राज्यघटना  |  नागरिकशास्त्र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D66E-A554-47C2-AA7F-DA9B0BB4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भारतातील न्यायव्यवस्था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8E23D-5E17-4E50-9FCE-FC7D75B1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9E6F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9E6F2"/>
                </a:solidFill>
              </a:defRPr>
            </a:pPr>
            <a:r>
              <a:rPr sz="1950" b="0">
                <a:solidFill>
                  <a:srgbClr val="D9E6F2"/>
                </a:solidFill>
              </a:rPr>
              <a:t>न्यायालयांची श्रेणी, रचना आणि अधिकारक्षेत्र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248EB-EE46-4E9B-9FEA-EAB56321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14A6B"/>
          </a:solidFill>
          <a:ln xmlns:a="http://schemas.openxmlformats.org/drawingml/2006/main" w="9525">
            <a:solidFill>
              <a:srgbClr val="214A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31749-C9EB-404F-914A-59C990E3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4C77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4C77A"/>
                </a:solidFill>
              </a:defRPr>
            </a:pPr>
            <a:r>
              <a:rPr sz="1350" b="1">
                <a:solidFill>
                  <a:srgbClr val="F4C77A"/>
                </a:solidFill>
              </a:rPr>
              <a:t>मुख्य कल्पना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42A29-4CA8-4BBB-917A-15D8E7DC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न्यायालयांची स्वतंत्र, स्तरबद्ध आणि घटनात्मक रचना नागरिकांच्या हक्कांचे संरक्षण करते.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1CF94-FC81-4FBE-9A8D-236F703E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9E6F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9E6F2"/>
                </a:solidFill>
              </a:defRPr>
            </a:pPr>
            <a:r>
              <a:rPr sz="1200" b="0">
                <a:solidFill>
                  <a:srgbClr val="D9E6F2"/>
                </a:solidFill>
              </a:rPr>
              <a:t>अभ्यासासाठी संक्षिप्त PPT</a:t>
            </a:r>
          </a:p>
        </p:txBody>
      </p:sp>
    </p:spTree>
    <p:extLst>
      <p:ext uri="{BB962C8B-B14F-4D97-AF65-F5344CB8AC3E}">
        <p14:creationId xmlns:p14="http://schemas.microsoft.com/office/powerpoint/2010/main" val="1501139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C2C71-7E30-4B1F-8D98-01C4CB2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आढावा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7F46A-69C4-497D-98B0-160E4BB7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न्यायव्यवस्थेची मूलभूत वैशिष्ट्ये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46156-603F-4A05-9188-9D4DD073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भारतीय न्यायव्यवस्था संविधानाच्या चौकटीत काम करते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FD32D-449D-4FB1-80C3-23E5C39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2D4B3-F020-4C47-A841-C047EAD5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A85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0173D-AEFB-4A58-B2DE-8AFF582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स्वतंत्रता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2DB6C-35D3-4F61-9AD9-3F0E0FCB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कार्यपालिका व विधिमंडळापासून संस्थात्मक स्वायत्तता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677D9-E006-4521-AEA7-36760B35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D93C5-E668-47C8-84A7-F77DA7E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A63"/>
          </a:solidFill>
          <a:ln xmlns:a="http://schemas.openxmlformats.org/drawingml/2006/main" w="9525">
            <a:solidFill>
              <a:srgbClr val="327A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6D559-CE99-46FE-8F04-BCC3672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90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एकात्मिक रचना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331BB-346B-4AAD-8978-00526E15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19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 स्तरांवरील न्यायालयांसाठी एकच न्यायव्यवस्था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228F1-9675-4914-9075-73E6A138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42C3A-517A-4D3A-9565-6F3098EC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2E"/>
          </a:solidFill>
          <a:ln xmlns:a="http://schemas.openxmlformats.org/drawingml/2006/main" w="9525">
            <a:solidFill>
              <a:srgbClr val="D978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9376F-EFB0-4840-84DF-5CD77D31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न्यायिक पुनरावलोकन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D3C2F-005C-4BDD-92B5-786E0101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कायदे संविधानाशी सुसंगत आहेत का हे तपासणे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3D3A8-34B2-42B5-B504-01013AAD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6237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9891D-CC96-482A-B3C0-96A2D25C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62375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24A"/>
          </a:solidFill>
          <a:ln xmlns:a="http://schemas.openxmlformats.org/drawingml/2006/main" w="9525">
            <a:solidFill>
              <a:srgbClr val="E7B2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F3C91-E6FC-40D6-858B-31104A3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कायद्याचे राज्य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B76D1-B82E-4286-A6E2-C52033A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 व्यक्तींवर समान कायदा लागू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3E826-BB4A-4B8C-B762-900C220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7A106-FE4F-4FE5-BDB7-EA49A3A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8556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2E345-8471-4455-BCFA-619B3520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रचना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72FD6-EE56-409E-B2B2-24603E2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न्यायालयांची श्रेणी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D124C-3DA8-48FB-BEBA-4CD1A06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वरच्या स्तराचा निर्णय खालच्या स्तरांसाठी मार्गदर्शक ठरतो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E5B9F-816A-4E84-BD5A-3D78F5D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90700"/>
            <a:ext cx="8858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14152-A4B1-4DA5-B2B9-C7E86A1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52625"/>
            <a:ext cx="832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सर्वोच्च न्यायालय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0DF78-2D90-4298-959A-B8DB3B1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305050"/>
            <a:ext cx="832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8F1F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8F1F6"/>
                </a:solidFill>
              </a:defRPr>
            </a:pPr>
            <a:r>
              <a:rPr sz="1200" b="0">
                <a:solidFill>
                  <a:srgbClr val="E8F1F6"/>
                </a:solidFill>
              </a:rPr>
              <a:t>राष्ट्रीय स्तर  |  घटनात्मक व अपीलीय अंतिम न्यायालय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0850C-AC48-4578-BE91-405FD9A0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A0E3-0C93-4ED8-9609-160F9B7E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71825"/>
            <a:ext cx="714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5A85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EDDDD-62CF-4B22-AC40-1ADA9D2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33750"/>
            <a:ext cx="661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उच्च न्यायालये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88089-4F45-4141-A81F-3FD0532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86175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8F1F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8F1F6"/>
                </a:solidFill>
              </a:defRPr>
            </a:pPr>
            <a:r>
              <a:rPr sz="1200" b="0">
                <a:solidFill>
                  <a:srgbClr val="E8F1F6"/>
                </a:solidFill>
              </a:rPr>
              <a:t>राज्य / केंद्रशासित प्रदेश  |  राज्य पातळीवरील सर्वोच्च न्यायालय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58CA3-6301-469C-B029-D6BAC297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D54CC-85D6-4881-A420-58E0822B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52950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27A63"/>
          </a:solidFill>
          <a:ln xmlns:a="http://schemas.openxmlformats.org/drawingml/2006/main" w="9525">
            <a:solidFill>
              <a:srgbClr val="327A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6C768-7868-4756-86EB-F2CE257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14875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जिल्हा व अधीनस्थ न्यायालये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A9687-7358-490D-A107-D3AC9122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0673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8F1F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8F1F6"/>
                </a:solidFill>
              </a:defRPr>
            </a:pPr>
            <a:r>
              <a:rPr sz="1200" b="0">
                <a:solidFill>
                  <a:srgbClr val="E8F1F6"/>
                </a:solidFill>
              </a:rPr>
              <a:t>जिल्हा स्तर  |  दिवाणी व फौजदारी प्रकरणांची प्राथमिक सुनावणी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E94C4-32E4-415E-90DD-539E0069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3EDC7-F143-4C54-8A3B-2EF3EE3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3979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FD79F-76EB-4C74-BFD7-9BBEA6A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सर्वोच्च न्यायालय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39C1E-C473-45D2-AD74-CFAFBDB1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संघराज्याचा सर्वोच्च न्यायिक मंच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9AF12-46D4-4E96-899D-4DE3AAD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भारताच्या संविधानातील कलम 124 ते 147 मध्ये तरतुदी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F988D-263D-437F-86A9-E482F5E0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91011-F7E0-4D2E-8C1D-50C899AB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रचना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24781-F802-4BEA-BB58-FDAF832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भारताचे मुख्य न्यायमूर्ती आणि इतर न्यायमूर्ती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B7A00-035A-42D1-8CE8-FC62991F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न्यायमूर्तींची नियुक्ती राष्ट्रपती करतात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52B28-9674-45FA-B158-D60405AA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न्यायमूर्तींचे निवृत्ती वय: 65 वर्षे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C4EBA-0D3D-49FB-B6FC-5D16F290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खंडपीठानुसार सुनावणी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91206-53D6-4930-A089-5783E11B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C9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A28EA-D5C0-41C4-A5B5-58092B34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5A8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5A85"/>
                </a:solidFill>
              </a:defRPr>
            </a:pPr>
            <a:r>
              <a:rPr sz="1875" b="1">
                <a:solidFill>
                  <a:srgbClr val="1F5A85"/>
                </a:solidFill>
              </a:rPr>
              <a:t>मुख्य अधिकारक्षेत्र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BE95A-57F0-41EA-9F96-90DB91D9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मूळ अधिकारक्षेत्र: केंद्र–राज्य वाद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C14EC-CE9E-4086-8DC0-4679240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अपीलीय अधिकारक्षेत्र: दिवाणी, फौजदारी, घटनात्मक अपील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3B3BB-F489-4F4D-8BCA-30BAC90C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घटनात्मक उपाय: कलम 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E4F13-6DF8-4B4B-961A-5B95A881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विशेष अनुमती अपील: कलम 136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01FB1-E631-48F3-B3FA-6650449C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•  कायद्याचा अंतिम अर्थ लावणे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1B4CC-C193-41B9-95DF-7495B55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3464B-2A80-4926-9857-9031976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276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8A7A1-8CA9-406B-84F3-23396F1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उच्च न्यायालये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0300-5CE6-4DAE-9BBA-0C5220C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राज्य पातळीवरील सर्वोच्च न्यायालय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C50E7-4424-45DA-9B30-C1099CCD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प्रत्येक उच्च न्यायालयाचे अधिकारक्षेत्र संबंधित राज्य किंवा केंद्रशासित प्रदेशावर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A28F0-CF80-4E3C-87A5-9990C989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762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20E41-EA7D-46DB-898B-59246C80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रचना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45C6A-9780-427B-BBE6-BAEB69FC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मुख्य न्यायमूर्ती व इतर न्यायमूर्ती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D1075-B426-4C50-B342-3AE96639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नियुक्ती राष्ट्रपती करतात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68747-0A35-48AA-835C-74BB6DC2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न्यायमूर्तींचे निवृत्ती वय: 62 वर्षे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7F132-F73B-49F1-8D68-9D710762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एकापेक्षा अधिक राज्यांसाठी संयुक्त उच्च न्यायालय शक्य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44BE8-1700-4E1C-873D-7E38AC22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38162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9525">
            <a:solidFill>
              <a:srgbClr val="F3D0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CF290-E6E0-41CC-A103-FAF03E45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9782E"/>
                </a:solidFill>
              </a:defRPr>
            </a:pPr>
            <a:r>
              <a:rPr sz="1875" b="1">
                <a:solidFill>
                  <a:srgbClr val="D9782E"/>
                </a:solidFill>
              </a:rPr>
              <a:t>अधिकारक्षेत्र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12C94-832A-4524-A6E5-925172D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मूळ व अपीलीय अधिकारक्षेत्र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172BA-7F6D-48A6-9A51-EF0922F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71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रिट अधिकारक्षेत्र: कलम 226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B57A6-90C9-4F88-A96D-A338196C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242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अधीनस्थ न्यायालयांवर देखरेख: कलम 227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051AD-C623-4212-8B29-EF8269D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767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•  दिवाणी व फौजदारी अपीलांची सुनावणी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1D7E0-0EE7-414B-970A-B68A4C8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6FCC4-A90F-4E74-9BEB-6DD42C52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0737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827C75-F5F0-4876-BC73-7CA537C3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अधीनस्थ न्यायालये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C9D48-95C4-420D-8186-D2E60D04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जिल्हा न्यायालयापासून तालुका पातळीपर्यंत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C7B09-DE46-4EB1-836A-0C13CA76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न्यायव्यवस्थेचा नागरिकांशी सर्वाधिक थेट संपर्क या स्तरावर होतो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28CEE-E639-4B49-8F1C-41ADE0D9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000E0-EEA4-4B56-970B-1FFD7EA0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27A63"/>
          </a:solidFill>
          <a:ln xmlns:a="http://schemas.openxmlformats.org/drawingml/2006/main" w="9525">
            <a:solidFill>
              <a:srgbClr val="327A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9B904-065F-4B35-B2E8-1F388AF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जिल्हा न्यायालय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C249C-71A0-4168-B717-82995B59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0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जिल्हा न्यायाधीश यांच्या नेतृत्वाखाली</a:t>
            </a:r>
          </a:p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दिवाणी व फौजदारी प्रकरणे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D8836-94A4-4074-866B-EFFE2825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E8E85-69E3-4C50-9037-11D3C1A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5A85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B2600-5A6E-42FC-9166-0F60340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दिवाणी न्यायालये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923CE-97E8-4A43-81A5-D3083B58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0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मालमत्ता, करार, नुकसानभरपाई</a:t>
            </a:r>
          </a:p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आर्थिक व कौटुंबिक वाद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5D3B2-273F-49AC-BFBC-63D6E9B8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6A476-0287-4072-8F5C-FE3B3A67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857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782E"/>
          </a:solidFill>
          <a:ln xmlns:a="http://schemas.openxmlformats.org/drawingml/2006/main" w="9525">
            <a:solidFill>
              <a:srgbClr val="D978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B268A-E47C-46BC-900F-5AEE8E7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फौजदारी न्यायालये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03DD2-B934-4A1D-ABBB-5AA82AA5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00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गुन्ह्यांची सुनावणी</a:t>
            </a:r>
          </a:p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दंड व शिक्षा ठरवणे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D5D3E-B2C9-4869-A4AB-632257E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B6573"/>
                </a:solidFill>
              </a:defRPr>
            </a:pPr>
            <a:r>
              <a:rPr sz="1500" b="1">
                <a:solidFill>
                  <a:srgbClr val="5B6573"/>
                </a:solidFill>
              </a:rPr>
              <a:t>प्रशासकीय नियंत्रण व अपीलांची शृंखला उच्च न्यायालयाशी जोडलेली असते.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91841-9DD3-4F29-953D-EB08F99F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4F06F-29C4-4C01-B328-54136DC4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5946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28CC2-BB0D-457D-BBD8-4ED7ADF7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अधिकारक्षेत्र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BF65-903F-4438-A8EA-8C7D12A3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कोणते न्यायालय कोणता वाद ऐकते?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34688-37DA-4CCC-86DB-91FFBA39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अधिकारक्षेत्रामुळे योग्य न्यायालयाची निवड स्पष्ट होते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8DBF6-CD61-429C-92EC-2EE820A5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076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C0159-0CE2-4352-AF81-CEE28F5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5CD7-5C5A-4755-A272-D30C9680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मूळ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FF78F-032B-443A-8769-A689581E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050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प्रकरण प्रथम कोणत्या न्यायालयात दाखल होते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8F87C-F684-4908-BC91-575D212C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050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उच्च न्यायालयातील काही घटनात्मक वाद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D1276-9DE3-437C-83A0-171D781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79259-4770-4CA3-B5B2-A59B5039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अपीलीय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CAD6C-51E3-440E-B332-4863B295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खालच्या न्यायालयाच्या निर्णयाविरुद्ध अपील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384F2-7223-40D1-9AE3-0DA44E27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उच्च न्यायालय आणि सर्वोच्च न्यायालय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C9DF3-54D8-4D3B-88E2-C0B725D2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96204-2573-43B5-93C0-0D3D9C0B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रिट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AC3C1-D13B-408D-8DA5-104AADBC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671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हक्कांच्या संरक्षणासाठी आदेश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002FE-D228-4FBB-9619-7CF9C5D8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67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सर्वोच्च: कलम 32  |  उच्च: कलम 226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0D00C-FDD4-4A5B-B291-81066AA0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64479-2088-49C7-B669-7742E6A9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सल्लागार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FCB8E-B7E1-4088-9120-6A173B0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481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राष्ट्रपतींच्या प्रश्नावर मत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F5C80-4D34-43E9-8C7E-5D8D6343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481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सर्वोच्च न्यायालय: कलम 143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FAC08-BF9B-4AB7-8166-96939F05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42E79-31DF-4CB3-B7C7-94327591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184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F23EE-F140-4B52-999F-6E75E8A6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न्यायिक स्वातंत्र्य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D30AE-1051-4511-8FF4-FEBC778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संविधानाचे संरक्षण आणि नियंत्रण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2A2F9-1697-4C0A-AEF9-9F14CC4A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स्वातंत्र्याबरोबर उत्तरदायित्वही आवश्यक आहे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E3E09-CDF5-477D-82D1-02B9DA0E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76250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6CDF0-5A00-455F-B65B-E31B32FD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स्वातंत्र्याची साधने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3F025-7A4A-447A-93D5-394B3A85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न्यायालयीन पुनरावलोकन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EF283-3015-4C8C-A4B3-6CD99EEE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मूलभूत अधिकारांचे संरक्षण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AC263-A7D9-4B9E-8887-934A052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न्यायमूर्तींच्या सेवाशर्तींचे संरक्षण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FAB01-0013-4210-B7BC-E0A7195A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 अवमान अधिकार व न्यायालयाचा गौरव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6D5DD-7D8D-445E-A3F3-004E3885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381625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C9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D1ED6-1A8F-4CBE-967E-655900CD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5A8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5A85"/>
                </a:solidFill>
              </a:defRPr>
            </a:pPr>
            <a:r>
              <a:rPr sz="1875" b="1">
                <a:solidFill>
                  <a:srgbClr val="1F5A85"/>
                </a:solidFill>
              </a:rPr>
              <a:t>महत्त्वाचा समतोल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25ECA-3F2B-4776-9AF4-EF76ED0A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27A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27A63"/>
                </a:solidFill>
              </a:defRPr>
            </a:pPr>
            <a:r>
              <a:rPr sz="1725" b="1">
                <a:solidFill>
                  <a:srgbClr val="327A63"/>
                </a:solidFill>
              </a:rPr>
              <a:t>न्यायालयीन स्वायत्तता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E19FB-D41F-4186-86DA-D3BA85C0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7F6DE-BC08-4B9E-BD28-815F7B3B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पारदर्शकता व उत्तरदायित्व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BA73D-1F51-4DC7-B7E7-89FED948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76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9782E"/>
                </a:solidFill>
              </a:defRPr>
            </a:pPr>
            <a:r>
              <a:rPr sz="2100" b="1">
                <a:solidFill>
                  <a:srgbClr val="D9782E"/>
                </a:solidFill>
              </a:rPr>
              <a:t>=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2959F-100C-4E97-9832-96BF76C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लोकशाहीतील विश्वास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E1843-CFF2-44DE-B1AC-4F51CF72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6E028-344F-408C-B906-55E82085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9577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E3367-2B54-4839-8B9E-93334729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82E"/>
                </a:solidFill>
              </a:defRPr>
            </a:pPr>
            <a:r>
              <a:rPr sz="975" b="1">
                <a:solidFill>
                  <a:srgbClr val="D9782E"/>
                </a:solidFill>
              </a:rPr>
              <a:t>झटपट पुनरावलोकन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922AE-3D70-4690-A430-5E637A8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परीक्षेसाठी लक्षात ठेवण्यासारखे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491E5-3176-4A23-A8B8-9FBF661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तीन प्रश्न, एक संपूर्ण चित्र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5F6E1-463D-4735-8499-EB68B4EC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D9782E"/>
                </a:solidFill>
              </a:defRPr>
            </a:pPr>
            <a:r>
              <a:rPr sz="2700" b="1">
                <a:solidFill>
                  <a:srgbClr val="D9782E"/>
                </a:solidFill>
              </a:rPr>
              <a:t>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967A5-AA41-41C7-B1A1-563E8DA3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52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श्रेणी?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876B6-7312-4D9E-80E4-8D308CA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716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सर्वोच्च → उच्च → जिल्हा व अधीनस्थ न्यायालये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60BDD-CBA9-41B9-A9BA-4EA00391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D9782E"/>
                </a:solidFill>
              </a:defRPr>
            </a:pPr>
            <a:r>
              <a:rPr sz="2700" b="1">
                <a:solidFill>
                  <a:srgbClr val="D9782E"/>
                </a:solidFill>
              </a:rPr>
              <a:t>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A928C-7DDA-4077-893A-69751633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रचना?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4FA9F-7F6F-462D-B028-E51BB9C8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194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न्यायमूर्ती, नियुक्ती, खंडपीठे आणि प्रशासकीय नियंत्रण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837B3-0576-4A37-A264-AE6AA52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782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D9782E"/>
                </a:solidFill>
              </a:defRPr>
            </a:pPr>
            <a:r>
              <a:rPr sz="2700" b="1">
                <a:solidFill>
                  <a:srgbClr val="D9782E"/>
                </a:solidFill>
              </a:rPr>
              <a:t>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44E70-1150-4658-A1C8-6F7D40E1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अधिकारक्षेत्र?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3D59C-FC80-47AE-B401-7E218132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मूळ, अपीलीय, रिट आणि सल्लागार अधिकारक्षेत्र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D203D-5EA3-4D6C-8BF9-C59B167B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287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29C4E-FA91-41CC-B800-95553A46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न्यायव्यवस्था नागरिकांचे हक्क, संविधान आणि कायद्याचे राज्य यांचे रक्षण करते.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08364-2879-4864-ACD1-4BA59566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भारतीय न्यायव्यवस्था  |  शैक्षणिक सादरीकरण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8AD36-6E74-4A46-B1CE-2BB9AD8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B6573"/>
                </a:solidFill>
              </a:defRPr>
            </a:pPr>
            <a:r>
              <a:rPr sz="900" b="1">
                <a:solidFill>
                  <a:srgbClr val="5B65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6337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2026-10-11T08:14:43.1310000Z</dcterms:created>
  <dcterms:modified xsi:type="dcterms:W3CDTF">2026-10-11T08:14:43.1310000Z</dcterms:modified>
</coreProperties>
</file>
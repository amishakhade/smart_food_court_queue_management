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37d20d2a1427a" /><Relationship Type="http://schemas.openxmlformats.org/officeDocument/2006/relationships/extended-properties" Target="/docProps/app.xml" Id="R257941f272264af9" /><Relationship Type="http://schemas.openxmlformats.org/officeDocument/2006/relationships/officeDocument" Target="/ppt/presentation.xml" Id="R1bcde6d8cbed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5b900834f47df"/>
  </p:sldMasterIdLst>
  <p:notesMasterIdLst>
    <p:notesMasterId xmlns:r="http://schemas.openxmlformats.org/officeDocument/2006/relationships" r:id="R17844405742948d8"/>
  </p:notesMasterIdLst>
  <p:sldIdLst>
    <p:sldId xmlns:r="http://schemas.openxmlformats.org/officeDocument/2006/relationships" id="256" r:id="R7d34b33d98dd402c"/>
    <p:sldId xmlns:r="http://schemas.openxmlformats.org/officeDocument/2006/relationships" id="257" r:id="R9afe5bb63a7f4cc9"/>
    <p:sldId xmlns:r="http://schemas.openxmlformats.org/officeDocument/2006/relationships" id="258" r:id="R45f8a552bd5d4938"/>
    <p:sldId xmlns:r="http://schemas.openxmlformats.org/officeDocument/2006/relationships" id="259" r:id="Ra9282aaeaf314569"/>
    <p:sldId xmlns:r="http://schemas.openxmlformats.org/officeDocument/2006/relationships" id="260" r:id="R0e6109c720c34b10"/>
    <p:sldId xmlns:r="http://schemas.openxmlformats.org/officeDocument/2006/relationships" id="261" r:id="R32e671723fe74ac0"/>
    <p:sldId xmlns:r="http://schemas.openxmlformats.org/officeDocument/2006/relationships" id="262" r:id="R969d7318af4345be"/>
    <p:sldId xmlns:r="http://schemas.openxmlformats.org/officeDocument/2006/relationships" id="263" r:id="R5a93c576a12f42d3"/>
    <p:sldId xmlns:r="http://schemas.openxmlformats.org/officeDocument/2006/relationships" id="264" r:id="R5e1e2310e0274c6b"/>
    <p:sldId xmlns:r="http://schemas.openxmlformats.org/officeDocument/2006/relationships" id="265" r:id="Rb0c42c361815400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24747a84da43de" /><Relationship Type="http://schemas.openxmlformats.org/officeDocument/2006/relationships/slideMaster" Target="/ppt/slideMasters/slideMaster1.xml" Id="Rdb75b900834f47df" /><Relationship Type="http://schemas.openxmlformats.org/officeDocument/2006/relationships/notesMaster" Target="/ppt/notesMasters/notesMaster1.xml" Id="R17844405742948d8" /><Relationship Type="http://schemas.openxmlformats.org/officeDocument/2006/relationships/presProps" Target="/ppt/presProps.xml" Id="R5d60c317a0d848db" /><Relationship Type="http://schemas.openxmlformats.org/officeDocument/2006/relationships/viewProps" Target="/ppt/viewProps.xml" Id="R62b81f21826646fb" /><Relationship Type="http://schemas.openxmlformats.org/officeDocument/2006/relationships/tableStyles" Target="/ppt/tableStyles.xml" Id="R90ddc17d9c834a20" /><Relationship Type="http://schemas.openxmlformats.org/officeDocument/2006/relationships/slide" Target="/ppt/slides/slide1.xml" Id="R7d34b33d98dd402c" /><Relationship Type="http://schemas.openxmlformats.org/officeDocument/2006/relationships/slide" Target="/ppt/slides/slide2.xml" Id="R9afe5bb63a7f4cc9" /><Relationship Type="http://schemas.openxmlformats.org/officeDocument/2006/relationships/slide" Target="/ppt/slides/slide3.xml" Id="R45f8a552bd5d4938" /><Relationship Type="http://schemas.openxmlformats.org/officeDocument/2006/relationships/slide" Target="/ppt/slides/slide4.xml" Id="Ra9282aaeaf314569" /><Relationship Type="http://schemas.openxmlformats.org/officeDocument/2006/relationships/slide" Target="/ppt/slides/slide5.xml" Id="R0e6109c720c34b10" /><Relationship Type="http://schemas.openxmlformats.org/officeDocument/2006/relationships/slide" Target="/ppt/slides/slide6.xml" Id="R32e671723fe74ac0" /><Relationship Type="http://schemas.openxmlformats.org/officeDocument/2006/relationships/slide" Target="/ppt/slides/slide7.xml" Id="R969d7318af4345be" /><Relationship Type="http://schemas.openxmlformats.org/officeDocument/2006/relationships/slide" Target="/ppt/slides/slide8.xml" Id="R5a93c576a12f42d3" /><Relationship Type="http://schemas.openxmlformats.org/officeDocument/2006/relationships/slide" Target="/ppt/slides/slide9.xml" Id="R5e1e2310e0274c6b" /><Relationship Type="http://schemas.openxmlformats.org/officeDocument/2006/relationships/slide" Target="/ppt/slides/slide10.xml" Id="Rb0c42c361815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898063450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c55179d734971" /><Relationship Type="http://schemas.openxmlformats.org/officeDocument/2006/relationships/notesMaster" Target="/ppt/notesMasters/notesMaster1.xml" Id="R09bfbb6cef69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740fb0e2e740d9" /><Relationship Type="http://schemas.openxmlformats.org/officeDocument/2006/relationships/notesMaster" Target="/ppt/notesMasters/notesMaster1.xml" Id="R319b3b5405c5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de3a6563bd4b3a" /><Relationship Type="http://schemas.openxmlformats.org/officeDocument/2006/relationships/notesMaster" Target="/ppt/notesMasters/notesMaster1.xml" Id="R5d774d57006f4c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1368930c1942eb" /><Relationship Type="http://schemas.openxmlformats.org/officeDocument/2006/relationships/notesMaster" Target="/ppt/notesMasters/notesMaster1.xml" Id="Rc9e2d3dc7b6d4a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e5bdae5b7440cb" /><Relationship Type="http://schemas.openxmlformats.org/officeDocument/2006/relationships/notesMaster" Target="/ppt/notesMasters/notesMaster1.xml" Id="R6439f351f27f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dff0bceb474cb3" /><Relationship Type="http://schemas.openxmlformats.org/officeDocument/2006/relationships/notesMaster" Target="/ppt/notesMasters/notesMaster1.xml" Id="Ra9ff5547529b48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fc0b2ca634f0d" /><Relationship Type="http://schemas.openxmlformats.org/officeDocument/2006/relationships/notesMaster" Target="/ppt/notesMasters/notesMaster1.xml" Id="R6d7c50b707614d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d0a4ae741d4a47" /><Relationship Type="http://schemas.openxmlformats.org/officeDocument/2006/relationships/notesMaster" Target="/ppt/notesMasters/notesMaster1.xml" Id="Re70664f4156247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f918f395d7493a" /><Relationship Type="http://schemas.openxmlformats.org/officeDocument/2006/relationships/notesMaster" Target="/ppt/notesMasters/notesMaster1.xml" Id="Rc78d5a45082a49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961162aafc4e14" /><Relationship Type="http://schemas.openxmlformats.org/officeDocument/2006/relationships/notesMaster" Target="/ppt/notesMasters/notesMaster1.xml" Id="R4bce6704f49748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40151d4bf45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99f357fd04d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a156b130247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d986f169e4a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e88e42b8a42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da53899e04a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9ae25ebd440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3faec7f1548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a7bfba47948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15f93a64941e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bf60d0251416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AA675C-CAC2-4104-BC41-08D0393AD88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BFE2192-912C-4230-A43C-913926F109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718C6B-01C0-4985-A83D-442ABD2541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004AB-6CAE-40D6-9FE8-A5BE9135C2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FC6DAF-8F77-4E64-8DB4-3584B48874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5240F1-C17E-4D27-9D2B-4A7ECB78B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458EE4-177F-4105-B360-0035F2F166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9501A8-598B-4A70-A57E-B001EF38E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22A99F-3D35-4FFA-A6E6-23A0E8E2EF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CA9282-5B6B-4B11-B8D1-DD1B8E6A29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004523-D1A8-4D96-AD45-18588D31F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892594-DAED-4176-99ED-5483922CB1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A28601-8EC5-4299-A726-E6B6BFD84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2998B3-65A0-4E2A-AB8F-9539B45D2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B8A29E-BAFA-40DA-B0A3-2E6787AE82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6F479F-55DE-4A19-A457-B0C5CCE6F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0AFC9-8761-4660-9D93-1842BCF678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1BDF883-3F42-42E2-99FD-A4841018B3F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A5C815-146B-4A30-A540-2BCAF43386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17A0BA7-F46E-4F1D-A9B7-9566E64A55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6B759E-802B-4A93-9532-B38E9879A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D01580-DFD9-4EBA-840B-AF81B2103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D97767-F5EC-4917-9A52-EC37A71FF5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C973210-0B2C-43BD-B668-9796314A532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54EB104-18FB-4A06-B81C-4FD81E9CA67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F32E3D3-8239-434C-B29B-B0A57AC15F5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2F33E4F-03B1-4A9B-91FB-5D18981D0F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C83EFF5-899F-48B5-B40E-C049D7E04D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FCCF418-7B35-4B71-806D-8DF28E1046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C3802-6A0C-42AE-A21F-61675F1AC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39C88A-A8A4-485C-9ADC-F27B8313E1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EC655EE-7010-4038-830C-714E61A19F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2BFBD08-DEED-4E24-B26F-180C287E03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4D89842-DAF7-4685-9744-A48EF656AC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1E145B6-713C-4AE9-B6CF-DB39C2C4B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F877DD-50BC-41F3-9BAE-1F683D8B2D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A1D5A1-502D-41AC-AEEA-023B8DDF57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28D4A9-AD27-48AE-84C0-A59847616E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0ABAD52-3A08-4F6C-891A-8DAE5F4D66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CC993-BBB0-4A36-B258-7C8E830F3E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FF5B53-3D23-4D57-91CE-9DED083C75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78026A-AC24-40CF-92F2-470A4451B9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FB40D3-0A3E-4E06-902C-D9F27C2A5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79B9321-2EA6-4C38-AD9A-8060401032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A835FD-41AF-4CD0-8C02-BBA79D383B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4F6DFDF-32C9-46B7-9900-4F6F05ECF6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7A92BD1-B3A1-4329-AE88-08B9769628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263925-9DC8-45B3-9DFF-FF30CD9DFB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6E4F8-F5AD-4FFE-BC48-1BA267D50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5F7849-98C5-496A-9739-386A4B7E3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63405C-0DDB-4456-93A9-110AB90CE4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3403C8-D11D-4326-B06C-56EB667866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AD2E7D-FF3F-4E9F-B644-65CA454C6C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5C4D8B5-B327-4461-A421-E31C83438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809C8F-1762-4091-97BF-68BF1F6C1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35DFA1-DABA-4554-A730-77C8AA893A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3E7370-8408-4711-ADDF-D9BC9C919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DC7CE8-371C-4398-BEAC-B77C1A92FD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883761550148e4" /><Relationship Type="http://schemas.openxmlformats.org/officeDocument/2006/relationships/slideLayout" Target="/ppt/slideLayouts/slideLayout1.xml" Id="Rbce20fede68345ee" /><Relationship Type="http://schemas.openxmlformats.org/officeDocument/2006/relationships/slideLayout" Target="/ppt/slideLayouts/slideLayout2.xml" Id="R0666b676ade64fd5" /><Relationship Type="http://schemas.openxmlformats.org/officeDocument/2006/relationships/slideLayout" Target="/ppt/slideLayouts/slideLayout3.xml" Id="R206e6bbe0a794335" /><Relationship Type="http://schemas.openxmlformats.org/officeDocument/2006/relationships/slideLayout" Target="/ppt/slideLayouts/slideLayout4.xml" Id="Rc8b63bc7dc034b10" /><Relationship Type="http://schemas.openxmlformats.org/officeDocument/2006/relationships/slideLayout" Target="/ppt/slideLayouts/slideLayout5.xml" Id="R6e80617028994454" /><Relationship Type="http://schemas.openxmlformats.org/officeDocument/2006/relationships/slideLayout" Target="/ppt/slideLayouts/slideLayout6.xml" Id="R13b3a5ef2c98431a" /><Relationship Type="http://schemas.openxmlformats.org/officeDocument/2006/relationships/slideLayout" Target="/ppt/slideLayouts/slideLayout7.xml" Id="R04019bc19aeb45ce" /><Relationship Type="http://schemas.openxmlformats.org/officeDocument/2006/relationships/slideLayout" Target="/ppt/slideLayouts/slideLayout8.xml" Id="R9f6ceb9e63e943d5" /><Relationship Type="http://schemas.openxmlformats.org/officeDocument/2006/relationships/slideLayout" Target="/ppt/slideLayouts/slideLayout9.xml" Id="Rf4bf93d00dfb4fb0" /><Relationship Type="http://schemas.openxmlformats.org/officeDocument/2006/relationships/slideLayout" Target="/ppt/slideLayouts/slideLayout10.xml" Id="R9d96f151dad64d6c" /><Relationship Type="http://schemas.openxmlformats.org/officeDocument/2006/relationships/slideLayout" Target="/ppt/slideLayouts/slideLayout11.xml" Id="R90b4d7ccc46e42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B2DC263-FE63-46E9-85AF-BF360149E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22B910-40AC-4543-A0DA-8711098C56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5D56BD-C79F-4D48-A773-0769ED55FE8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B1B781-F40D-42CD-96FE-F5276B46DB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84381-C8FB-4AB4-A1C3-42B8D35CCE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e20fede68345ee"/>
    <p:sldLayoutId xmlns:r="http://schemas.openxmlformats.org/officeDocument/2006/relationships" id="2147483650" r:id="R0666b676ade64fd5"/>
    <p:sldLayoutId xmlns:r="http://schemas.openxmlformats.org/officeDocument/2006/relationships" id="2147483651" r:id="R206e6bbe0a794335"/>
    <p:sldLayoutId xmlns:r="http://schemas.openxmlformats.org/officeDocument/2006/relationships" id="2147483652" r:id="Rc8b63bc7dc034b10"/>
    <p:sldLayoutId xmlns:r="http://schemas.openxmlformats.org/officeDocument/2006/relationships" id="2147483653" r:id="R6e80617028994454"/>
    <p:sldLayoutId xmlns:r="http://schemas.openxmlformats.org/officeDocument/2006/relationships" id="2147483654" r:id="R13b3a5ef2c98431a"/>
    <p:sldLayoutId xmlns:r="http://schemas.openxmlformats.org/officeDocument/2006/relationships" id="2147483655" r:id="R04019bc19aeb45ce"/>
    <p:sldLayoutId xmlns:r="http://schemas.openxmlformats.org/officeDocument/2006/relationships" id="2147483656" r:id="R9f6ceb9e63e943d5"/>
    <p:sldLayoutId xmlns:r="http://schemas.openxmlformats.org/officeDocument/2006/relationships" id="2147483657" r:id="Rf4bf93d00dfb4fb0"/>
    <p:sldLayoutId xmlns:r="http://schemas.openxmlformats.org/officeDocument/2006/relationships" id="2147483658" r:id="R9d96f151dad64d6c"/>
    <p:sldLayoutId xmlns:r="http://schemas.openxmlformats.org/officeDocument/2006/relationships" id="2147483659" r:id="R90b4d7ccc46e42c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c9e4f1aaa04859" /><Relationship Type="http://schemas.openxmlformats.org/officeDocument/2006/relationships/notesSlide" Target="/ppt/notesSlides/notesSlide1.xml" Id="R1c0108b8725a44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7458e2f5a04a8a" /><Relationship Type="http://schemas.openxmlformats.org/officeDocument/2006/relationships/notesSlide" Target="/ppt/notesSlides/notesSlide2.xml" Id="R5b822865a19b49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d40c0195954ae4" /><Relationship Type="http://schemas.openxmlformats.org/officeDocument/2006/relationships/notesSlide" Target="/ppt/notesSlides/notesSlide3.xml" Id="R493766537904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be48efcc9b4a04" /><Relationship Type="http://schemas.openxmlformats.org/officeDocument/2006/relationships/notesSlide" Target="/ppt/notesSlides/notesSlide4.xml" Id="R4c6a7d17246c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50954561ef4d6e" /><Relationship Type="http://schemas.openxmlformats.org/officeDocument/2006/relationships/notesSlide" Target="/ppt/notesSlides/notesSlide5.xml" Id="Re08d96ddbbef43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f7c4fa08c64b29" /><Relationship Type="http://schemas.openxmlformats.org/officeDocument/2006/relationships/notesSlide" Target="/ppt/notesSlides/notesSlide6.xml" Id="Rde60dc7376ef45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5191371143489b" /><Relationship Type="http://schemas.openxmlformats.org/officeDocument/2006/relationships/notesSlide" Target="/ppt/notesSlides/notesSlide7.xml" Id="Re6a2500c2bdc4a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69e12d77bb4f36" /><Relationship Type="http://schemas.openxmlformats.org/officeDocument/2006/relationships/notesSlide" Target="/ppt/notesSlides/notesSlide8.xml" Id="Rf06e1e6b235e4e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fe86779c97473e" /><Relationship Type="http://schemas.openxmlformats.org/officeDocument/2006/relationships/notesSlide" Target="/ppt/notesSlides/notesSlide9.xml" Id="R3d643166e7eb40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ba4ded83f24219" /><Relationship Type="http://schemas.openxmlformats.org/officeDocument/2006/relationships/notesSlide" Target="/ppt/notesSlides/notesSlide10.xml" Id="R3819635fce0e49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1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1DB632-DE51-48E3-9D76-05842013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87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D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F62E49-6D02-412B-9C05-18AF84F5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81791B-AD14-401E-9465-20D506F0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14400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भारतीय राज्यव्यवस्था • PRESENTATION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C12CDAC-EB48-411B-8530-577A55A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6858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40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THE JUDICIARY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1CEA9A-2CAE-4453-A660-8823EF54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30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भारतातील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7765B6-58E3-4FDC-9B0A-D2FB1E6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900" b="0">
                <a:solidFill>
                  <a:srgbClr val="DAE5F1"/>
                </a:solidFill>
                <a:latin typeface="Nirmala UI"/>
                <a:ea typeface="Nirmala UI"/>
                <a:cs typeface="Nirmala UI"/>
              </a:defRPr>
            </a:pPr>
            <a:r>
              <a:t>वैशिष्ट्ये • न्यायालयांची श्रेणी • रचना • अधिकारक्षेत्र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4E87630-B40E-4D91-86AA-33090AA5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057400"/>
            <a:ext cx="1371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07A1FC-25D6-42FF-9679-D03C3D48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148840"/>
            <a:ext cx="274320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D9CFA95-A77C-438D-AB5C-AF2E1127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600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2E75CBD-AB2A-4CF1-8EB1-10E0310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67712"/>
            <a:ext cx="3657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D97AA72-1272-465A-AAD9-24EBA957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7712"/>
            <a:ext cx="3657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Arc 13">
            <a:extLst xmlns:a="http://schemas.openxmlformats.org/drawingml/2006/main">
              <a:ext uri="{FF2B5EF4-FFF2-40B4-BE49-F238E27FC236}">
                <a16:creationId xmlns:a16="http://schemas.microsoft.com/office/drawing/2014/main" id="{BC396833-FF02-4643-9ECB-2DCD4B91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80360"/>
            <a:ext cx="1234440" cy="640080"/>
          </a:xfrm>
          <a:prstGeom xmlns:a="http://schemas.openxmlformats.org/drawingml/2006/main" prst="arc">
            <a:avLst>
              <a:gd name="adj1" fmla="val 25000"/>
              <a:gd name="adj2" fmla="val 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1AE4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B15C18E-1AA9-409F-94B5-57484CDA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19" y="2267712"/>
            <a:ext cx="3657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FBABCB9-46DD-4259-8422-50BC4CC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2267712"/>
            <a:ext cx="3657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Arc 16">
            <a:extLst xmlns:a="http://schemas.openxmlformats.org/drawingml/2006/main">
              <a:ext uri="{FF2B5EF4-FFF2-40B4-BE49-F238E27FC236}">
                <a16:creationId xmlns:a16="http://schemas.microsoft.com/office/drawing/2014/main" id="{76ABC8BB-7ED7-4C6E-B11D-8DCA6552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880360"/>
            <a:ext cx="1234440" cy="640080"/>
          </a:xfrm>
          <a:prstGeom xmlns:a="http://schemas.openxmlformats.org/drawingml/2006/main" prst="arc">
            <a:avLst>
              <a:gd name="adj1" fmla="val 25000"/>
              <a:gd name="adj2" fmla="val 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1AE4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EC17FA2-3DC1-4C6C-BE7E-6E743E9B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19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न्याय • समानता • संविधान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859AB0A-F27C-9845-D158-90AD33F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65" y="4800600"/>
            <a:ext cx="46408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</a:rPr>
              <a:t>Presented By: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</a:rPr>
              <a:t>    Amisha Khade(B30)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</a:rPr>
              <a:t>  Sai </a:t>
            </a:r>
            <a:r>
              <a:rPr>
                <a:solidFill>
                  <a:schemeClr val="bg1"/>
                </a:solidFill>
              </a:rPr>
              <a:t>Tambekar</a:t>
            </a:r>
            <a:r>
              <a:rPr>
                <a:solidFill>
                  <a:schemeClr val="bg1"/>
                </a:solidFill>
              </a:rPr>
              <a:t>(B63)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46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58E699-CC43-4740-9905-3E3A8B3D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704D7F-FA55-41A4-8B9D-DF5E1505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5.1 भारतातील न्यायव्यवस्थेची वैशिष्ट्ये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8259EAE-0951-4944-A072-A1AB55E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FEATURES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142191-0E3D-4B1B-91AE-7D220ED7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6E7B50-DEA8-4DB9-8BA8-EB9CFA0A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3B92ED-4651-4806-94ED-28580733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5EB29F-226B-45D6-8FBD-AAFD4097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9844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न्यायव्यवस्था नागरिकांना न्याय देते आणि संविधानातील मूल्यांचे संरक्षण करते.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1DEC09B-908A-4A9E-B232-711A68A3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33375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DC4D9F4-32D3-40C8-BAD9-D945320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8F16D9-112E-487D-BCE1-6D27505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40279"/>
            <a:ext cx="2926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स्वतंत्र न्यायव्यवस्था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1BA97B-787E-47F3-B6C3-46320E2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24912"/>
            <a:ext cx="2926079" cy="795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4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न्यायाधीश कायद्यानुसार स्वतंत्रपणे निर्णय देतात.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FA4E4AE-35DF-457C-B14A-E2E379CC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03120"/>
            <a:ext cx="33375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B3E0B2B-9050-45A7-9327-F22116E2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0312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43FC18-8975-4989-B1E8-722A48D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240279"/>
            <a:ext cx="2926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एकात्मिक रचना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997DF6F-1C97-4653-BA87-C7103780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724912"/>
            <a:ext cx="2926079" cy="795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4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सर्वोच्च न्यायालयापासून अधीनस्थ न्यायालयांपर्यंत साखळी.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D88E47D-348E-4E1B-B208-0862016D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03120"/>
            <a:ext cx="33375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CA7E7C2-74CB-4922-B76C-FBB191E5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0312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F227457-4FD5-40EA-B29C-498B038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240279"/>
            <a:ext cx="2926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कायद्यापुढे समानता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FD4109-F83C-4908-92CC-64FED94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724912"/>
            <a:ext cx="2926079" cy="795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4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प्रत्येक व्यक्तीला कायद्याचे समान संरक्षण.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C357FF5-D16F-4D5A-AE28-6BDF4E7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33375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F8020D-2B7C-4D98-94AA-21314AD1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8B2DB0-C7DD-44EE-A220-E79AD0B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06240"/>
            <a:ext cx="2926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निष्पक्ष सुनावणी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3FDBAF8-8138-4504-95C9-95B4BDB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90872"/>
            <a:ext cx="2926079" cy="795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4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दोन्ही बाजू ऐकून पुराव्यांच्या आधारे निर्णय.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1DB2663-B802-4B20-825B-69A518B0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69080"/>
            <a:ext cx="33375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974128D-1CD0-4EAB-8070-A3F28487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06908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AA7508F-CDA1-47C2-92C0-F05D2769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206240"/>
            <a:ext cx="2926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न्यायालयीन पुनर्विलोकन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B7AE4B-6829-462A-B632-2228817B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690872"/>
            <a:ext cx="2926079" cy="795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4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कायदे व सरकारी निर्णयांची घटनात्मक वैधता तपासणे.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7F9617ED-2873-4897-BF0C-51619D3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69080"/>
            <a:ext cx="333756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2CE8D09-DC6B-4CE1-A9CB-3229D38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69080"/>
            <a:ext cx="109728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234F95A-AA8E-4BDA-80AF-DD4BD04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4206240"/>
            <a:ext cx="2926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अधिकारांचे संरक्षण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C72330A-9943-43BA-963E-9B25CF7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4690872"/>
            <a:ext cx="2926079" cy="795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4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नागरिकांच्या मूलभूत अधिकारांसाठी न्यायालयीन उपाय.</a:t>
            </a:r>
          </a:p>
        </p:txBody>
      </p:sp>
    </p:spTree>
    <p:extLst>
      <p:ext uri="{BB962C8B-B14F-4D97-AF65-F5344CB8AC3E}">
        <p14:creationId xmlns:p14="http://schemas.microsoft.com/office/powerpoint/2010/main" val="1356133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06B843-38A0-4F1A-B358-1153509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F80F9C-BC27-485F-B1D4-57FCE74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स्वातंत्र्य आणि निष्पक्षता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B7811F6-08B8-4F6E-98EC-F1ACC1F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INDEPENDENCE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2ECC760-2233-46A3-BF0B-16C7EC6C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6A9DE3B-ED80-484D-A1EF-D6C2DC34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2301B7-38C8-41CB-816C-F3BACB9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DF585E5-6B49-4463-BB32-A089FF5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6DA4D6-EAAD-440F-91F4-5274A880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776B84A-A828-4393-A701-FCEC1427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54480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न्यायव्यवस्थेचे स्वातंत्र्य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47E9D-8ECB-4B3F-B62E-A084BE24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489204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न्यायालये कार्यपालिका किंवा राजकीय दबावापासून स्वतंत्र राहून संविधान व कायद्यानुसार निर्णय देतात.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E84974E-F16D-4963-BE84-45A4ADC8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5F7077-312D-42A5-BAA2-25810364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10972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BEA7BC-7A2F-48EA-B4ED-EB4389C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554480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निष्पक्ष न्याय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0AEC84F-3921-467D-BD65-682EC15A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39112"/>
            <a:ext cx="489204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न्यायाधीशांनी कोणत्याही पक्षाचा पक्षपात न करता पुरावे, कायदा आणि दोन्ही बाजूंचे म्हणणे विचारात घ्यावे.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8B1A1E-52CF-403B-A63E-0A117BE5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49039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हे महत्त्वाचे का आहे?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C9C50D24-3D10-4DAA-81A1-56E701D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F585AD0-D787-44BD-8C1C-EC2BF43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7680"/>
            <a:ext cx="10104120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नागरिकांचा न्यायव्यवस्थेवरील विश्वास वाढतो.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1F9F7204-1A3B-4525-9416-7D968BB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947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5411B31-7669-47EA-98CD-E202FE33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10104120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सत्तेचा गैरवापर रोखण्यास मदत होते.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5F92A01D-7853-4DD0-8ADF-DC9050EA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239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1FB1C2C-1367-4AA4-B4BC-3990240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3520"/>
            <a:ext cx="10104120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सर्वांना न्याय मिळण्याची समान संधी मिळते.</a:t>
            </a:r>
          </a:p>
        </p:txBody>
      </p:sp>
    </p:spTree>
    <p:extLst>
      <p:ext uri="{BB962C8B-B14F-4D97-AF65-F5344CB8AC3E}">
        <p14:creationId xmlns:p14="http://schemas.microsoft.com/office/powerpoint/2010/main" val="1613539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914C61-06F7-4A6B-9B3A-C2F6BF9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241013B-575C-4D61-8E0D-15A4BCA4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संविधान आणि मूलभूत अधिकारांचे संरक्षण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0B6D40-E8E6-4D7E-A2B3-1983ECA8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CONSTITUTION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9C8F1C-3EA3-4264-AC5A-CCDA8AE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1A4C05-DD30-4B72-A6ED-C2FB7D8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FE6FD7E-51AC-48D9-B074-5A18BF78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84A67EF-42E8-4431-A8A7-DC0AB5AE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1AF9C27-B3B4-41B8-A060-7681C44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D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B220B4-3B25-4879-8332-43B2ED03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54480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संविधानाचे संरक्षण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B97D98-B5C3-45EF-B839-7FFB4AC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संविधान हे देशाचे सर्वोच्च कायदेशीर दस्तऐवज आहे. न्यायालये कायदे व सरकारी कृती संविधानाशी सुसंगत आहेत का ते तपासतात.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720B149-9655-44EF-890A-5DDB9E05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3EDD50F-FB0F-41F3-85A7-D9AAAC4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6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D2A7D2-1404-4CF3-9656-F145D10E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554480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मूलभूत अधिकार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00957F0-EC93-4595-8E60-41756C7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3911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समता, स्वातंत्र्य आणि इतर मूलभूत अधिकारांचे उल्लंघन झाल्यास नागरिक योग्य न्यायालयात दाद मागू शकतात.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D15E52-6A1B-4AE5-8DEE-3C68CE6B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10424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लक्षात ठेवण्यासारखे मुद्दे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2B128FC6-3D49-47AB-A82D-AB01463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227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E8E6DB-6186-4C7E-AC2D-E92CA0B0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10012680" cy="454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अनुच्छेद 32: मूलभूत अधिकारांच्या अंमलबजावणीसाठी सर्वोच्च न्यायालयात दाद.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6061FAE3-D0F6-450F-9F7F-E6FA05DF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471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3EC81F-0766-4701-91DC-9BCA289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5840"/>
            <a:ext cx="10012680" cy="454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अनुच्छेद 226: उच्च न्यायालयांना मूलभूत तसेच इतर कायदेशीर अधिकारांसाठी लेख जारी करता येतात.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D51B1C8F-F504-42D9-9AC9-AB3070A3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71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C2541E-80FA-4071-AEC2-1D30E32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8280"/>
            <a:ext cx="10012680" cy="454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न्यायालयीन पुनर्विलोकनामुळे संविधानाचे सर्वोच्चत्व टिकते.</a:t>
            </a:r>
          </a:p>
        </p:txBody>
      </p:sp>
    </p:spTree>
    <p:extLst>
      <p:ext uri="{BB962C8B-B14F-4D97-AF65-F5344CB8AC3E}">
        <p14:creationId xmlns:p14="http://schemas.microsoft.com/office/powerpoint/2010/main" val="821631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3E18EF-4511-4897-96CF-22E52F4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66F4EA0-15E8-4F0A-9976-E33FED7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भारतातील न्यायालयांची श्रेणी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8A0093F-225A-44C7-9177-E488E724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HIERARCHY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4BB73BD-A4E1-4FAB-8911-081B71C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29F56D6-028B-412E-8B7C-4F8B425B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622848-8BED-4D97-AEF3-A60000A9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5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D65767C-3F61-40D6-BFA0-25D060A9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100584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976D08-AC50-45C8-B985-651B15C6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1508760"/>
            <a:ext cx="9692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1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सर्वोच्च न्यायालय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C7AD5A-5B96-4F42-8AC8-E6004D56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1901952"/>
            <a:ext cx="9692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400" b="0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देशातील सर्वोच्च न्यायिक प्राधिकरण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8687262-9083-40E9-80B0-D690E0F2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880360"/>
            <a:ext cx="84124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D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3E62E7-4C12-4176-AC9A-F645A5B4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71800"/>
            <a:ext cx="8046719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1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उच्च न्यायालये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C26DD04-1FE9-47B3-85E1-CDD5DACE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64991"/>
            <a:ext cx="804671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400" b="0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राज्य किंवा संबंधित प्रदेशाच्या स्तरावर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D87BB62-DF6B-4F94-A0B5-E260DAB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343400"/>
            <a:ext cx="676656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FF9FB4-EB96-45C9-870A-C8FA386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4840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1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जिल्हा व अधीनस्थ न्यायालये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D68915D-AD2A-413C-A61C-FD2D7AAF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828032"/>
            <a:ext cx="6400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400" b="0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जिल्हा आणि तालुका स्तरावरील प्रकरणे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0DCB68-51C5-466A-846F-391DC4D0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395728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5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↓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1D3EE6-57C5-44D4-A824-CE96180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858768"/>
            <a:ext cx="1005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5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↓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C07ECFA-A94F-46C5-80AA-3C6A4DD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356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buNone/>
              <a:defRPr sz="14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टीप: दिवाणी आणि फौजदारी प्रकरणांमध्ये अधीनस्थ न्यायालयांची अंतर्गत रचना वेगळी असू शकते.</a:t>
            </a:r>
          </a:p>
        </p:txBody>
      </p:sp>
    </p:spTree>
    <p:extLst>
      <p:ext uri="{BB962C8B-B14F-4D97-AF65-F5344CB8AC3E}">
        <p14:creationId xmlns:p14="http://schemas.microsoft.com/office/powerpoint/2010/main" val="525472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55CEC8-833E-4B47-B344-69C24C98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9F59E7-D4C4-4510-B329-756FBD7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सर्वोच्च न्यायालय: रचना आणि अधिकारक्षेत्र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96956D-3013-45FF-BF83-23EE308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SUPREME COURT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D34091-91DE-49CD-B4F1-B98689A4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61B50B-04F2-4C83-A321-21D0B9C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D9590D7-44EE-42AF-97C5-135D8E6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58A3E97-5599-4BA2-9C76-D3B55B11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4008F8-68B6-46BE-A80F-3D24239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D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EB5D455-C9FC-4D6D-BC0C-E56B709F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63039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रचना (Composition)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C16876-4089-4A21-AE11-A589A5F8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4767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नवी दिल्ली येथे मुख्यालय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भारताचे सरन्यायाधीश आणि इतर न्यायाधीश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सर्वोच्च न्यायिक प्राधिकरण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AE6A835-B53C-4B4A-9099-E561742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432CCF-7C94-4044-9CC3-5382F25A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8AD2C54-092C-4BB9-8DDC-FE45777C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463039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अधिकारक्षेत्र (Jurisdiction)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F2D37F-35C6-4480-9246-E09A9081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4767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केंद्र–राज्यांतील काही वाद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उच्च न्यायालयांच्या निर्णयांवरील अपील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राष्ट्रपतींना सल्ला देण्याचे अधिकार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अनुच्छेद 32 अंतर्गत मूलभूत अधिकारांचे संरक्षण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80514B-F9F9-48F9-8610-46269838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मुख्य भूमिका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5D06F242-2F08-4CC9-96C7-72CAF4BB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511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868FB2-F961-463E-883B-508789A9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6240"/>
            <a:ext cx="10012680" cy="499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संविधानाचा अर्थ स्पष्ट करणे आणि घटनात्मक प्रश्न सोडवणे.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533847C0-895B-4599-A022-C9F75AF9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3271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7470D91-B04F-42C4-A63B-66C91E42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399"/>
            <a:ext cx="10012680" cy="499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महत्त्वाच्या प्रकरणांमध्ये अंतिम अपीलीय न्यायालय म्हणून काम करणे.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63F25D2-E0DA-489B-A618-B46E4D9D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1431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BA43F3B-EBF6-4F56-8DBD-614D13EC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42559"/>
            <a:ext cx="10012680" cy="499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योग्य प्रकरणांत न्यायालयीन लेख (Writs) जारी करणे.</a:t>
            </a:r>
          </a:p>
        </p:txBody>
      </p:sp>
    </p:spTree>
    <p:extLst>
      <p:ext uri="{BB962C8B-B14F-4D97-AF65-F5344CB8AC3E}">
        <p14:creationId xmlns:p14="http://schemas.microsoft.com/office/powerpoint/2010/main" val="731593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181FEA-F411-453D-916A-AE0342DA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8FE7F1-A62F-43BA-BD17-0DF7B04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उच्च न्यायालय: रचना आणि अधिकारक्षेत्र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4D1133-E259-4369-94A5-A0595CE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HIGH COURT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BBE2E3-8224-4266-B8F2-41A3C08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D98155-8B8A-41A7-A202-F6611CFB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634431-7293-4B70-AF70-B10439EC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7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EB4BEC7-0C13-4FD5-A097-D180B0D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79D010-7F1B-4BD9-ACD1-8693312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D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6BC0E04-74E8-4BA9-BB6E-1075541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63039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0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रचना (Composition)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35BC42-4354-4FEC-B372-4C7C1C4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4767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प्रत्येक राज्यासाठी उच्च न्यायालय असते; काहींचे अधिकारक्षेत्र अनेक राज्ये/केंद्रशासित प्रदेशांवर असते.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मुख्य न्यायाधीश आणि इतर न्यायाधीश.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अधीनस्थ न्यायालयांवर देखरेख.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931EA86-7865-46BF-AE63-DF43821B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B914EF-5BE5-4192-85F1-9D263ED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C54DFD-CDA6-4039-B9EE-F26CE20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463039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0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अधिकारक्षेत्र (Jurisdiction)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46815D-25FA-4EC1-BA4E-AA84827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4767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अधीनस्थ न्यायालयांच्या निर्णयांवरील अपील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काही प्रकरणांत मूळ अधिकारक्षेत्र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अनुच्छेद 226 अंतर्गत लेख जारी करणे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6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अधीनस्थ न्यायालयांवर न्यायिक व प्रशासकीय नियंत्रण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00C6460-081F-44DE-AB76-D2D43A2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उदाहरण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582C600-801E-4040-8439-9AFECC59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4528"/>
            <a:ext cx="102412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मुंबई उच्च न्यायालय हे महाराष्ट्र, गोवा आणि काही केंद्रशासित प्रदेशांसाठी लागू असलेल्या अधिकारक्षेत्रात काम करते. विशिष्ट प्रकरण कोणत्या न्यायालयात जाईल हे कायद्यावर अवलंबून असते.</a:t>
            </a:r>
          </a:p>
        </p:txBody>
      </p:sp>
    </p:spTree>
    <p:extLst>
      <p:ext uri="{BB962C8B-B14F-4D97-AF65-F5344CB8AC3E}">
        <p14:creationId xmlns:p14="http://schemas.microsoft.com/office/powerpoint/2010/main" val="1170261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0A997-187F-4746-8F25-EB45C61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952E78-6509-45F5-BD12-FF3EC897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जिल्हा आणि अधीनस्थ न्यायालये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BF611B-A762-4874-B49B-8D82F99D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DISTRICT COURTS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061D2E-2261-47DE-9752-D554ED28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D00862-F1D4-4099-9CA6-F186BE3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31400FD-5FA5-42FE-9A63-8D54447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8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31BA799-9562-4963-B9F7-C12A27F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56B9557-6577-4B69-A70F-C81E130A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D9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70AB6C3-E32C-4E07-B7E5-4B5AB26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63039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रचना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0B11C3D-F0B5-4AC9-88BD-EC2E2632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4767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जिल्हा न्यायालये आणि सत्र न्यायालये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दिवाणी न्यायाधीश व न्यायिक दंडाधिकारी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जिल्हा/तालुका स्तरावर नागरिकांना न्यायसेवा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FB94665-B5C0-4249-A578-F7785C65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530352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CE5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B873485-E182-4A54-B9FE-2799A3D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109728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0B353D4-B241-4ACC-BCC7-874AAC9E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463039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1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कामकाज आणि अधिकारक्षेत्र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6BD21E4-0EFB-43E7-8E13-EA21E439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47672"/>
            <a:ext cx="4892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मालमत्ता व करारविषयक दिवाणी वाद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गुन्ह्यांशी संबंधित फौजदारी खटले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साक्षीदार व पुरावे तपासणे</a:t>
            </a:r>
          </a:p>
          <a:p xmlns:a="http://schemas.openxmlformats.org/drawingml/2006/main">
            <a:pPr algn="l">
              <a:spcAft>
                <a:spcPts val="500"/>
              </a:spcAft>
              <a:buNone/>
              <a:defRPr sz="17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• कायद्यानुसार निर्णय व शिक्षा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823966-07B7-4A35-95A4-7888F9A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2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सामान्य उदाहरणे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96B233A4-5667-4AE1-9E17-32842EB0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511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E79A0CF-0580-43EA-B40A-4203484E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6240"/>
            <a:ext cx="10012680" cy="499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जमीन किंवा मालमत्तेचा वाद.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AA60A220-CDDB-45E0-B3BF-07A4C43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3271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B47F5CE-2E7E-4422-AC8E-E882056D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399"/>
            <a:ext cx="10012680" cy="499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पैशांची वसुली किंवा कराराशी संबंधित वाद.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121B8A5-BE57-4625-917E-307FA715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1431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DD75C1C-ADF9-4399-8943-763DC43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42559"/>
            <a:ext cx="10012680" cy="499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18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चोरी, फसवणूक किंवा इतर गुन्ह्यांशी संबंधित खटले.</a:t>
            </a:r>
          </a:p>
        </p:txBody>
      </p:sp>
    </p:spTree>
    <p:extLst>
      <p:ext uri="{BB962C8B-B14F-4D97-AF65-F5344CB8AC3E}">
        <p14:creationId xmlns:p14="http://schemas.microsoft.com/office/powerpoint/2010/main" val="146551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01B365-F0A9-40B9-8C9F-75ECCACD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AD94BE9-4F94-4502-A4B6-EF8D0635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न्यायालयांची तुलना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80C588-58B9-4B0D-B3BF-7B9D107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COMPARISON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12C24D-16EC-4CBC-B684-CBBB6EFC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3A37B30-8541-4416-AE1E-B86C4AF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6B93E57-4AB4-436A-9D7C-201202B0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9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8EB409-E7D1-4CE8-AD43-50FFD80F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148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29C0F5-5A99-416D-A30D-BD577C84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1490472"/>
            <a:ext cx="196596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AFB228A-03BD-4CA6-9053-2913248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17320"/>
            <a:ext cx="37033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E1440D2-8994-4E38-B8E1-49FD33A3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490472"/>
            <a:ext cx="352043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रचना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8740291-9BFD-46BF-B1BE-D0FDC47A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5029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9AFD4F8-18AC-4A97-9AFC-EAD966D7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1490472"/>
            <a:ext cx="48463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6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मुख्य अधिकारक्षेत्र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805F8A8-C277-42C3-B49B-B0B6C083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2148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B9D6AB0-E56F-417B-BBF1-8E036183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2359152"/>
            <a:ext cx="196596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सर्वोच्च न्यायालय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400454-8947-4A99-80DB-7C707088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86000"/>
            <a:ext cx="37033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F0D26F4-E174-48EE-BCD9-AA40AF5C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59152"/>
            <a:ext cx="352043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सरन्यायाधीश व इतर न्यायाधीश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009D0DC-2409-46F6-94B0-05D1F38B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5029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27B4FC-E095-4D38-8D58-001F03EC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359152"/>
            <a:ext cx="48463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घटनात्मक प्रश्न, अपील, केंद्र–राज्य वाद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EAE7A4-CC75-48BD-8FC7-F64E09DE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148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6FA819C-6F67-4B0C-8EAF-B83CEEE9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3227832"/>
            <a:ext cx="196596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उच्च न्यायालय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B59D8C7-A943-4592-8687-AE358081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154680"/>
            <a:ext cx="37033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0760F1C-0737-4830-99A5-25AE94E6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27832"/>
            <a:ext cx="352043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मुख्य न्यायाधीश व इतर न्यायाधीश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9576F39-91BD-429E-94F1-F2A633C5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54680"/>
            <a:ext cx="5029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6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27E477C-0486-4E96-92F2-934DAB1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3227832"/>
            <a:ext cx="48463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अपील, लेख, अधीनस्थ न्यायालयांवर देखरेख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F89D1F6-5035-4FD3-9585-06C166D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59"/>
            <a:ext cx="2148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4432E92-6C1B-43C7-A9BB-4DE99464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096511"/>
            <a:ext cx="196596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जिल्हा/अधीनस्थ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42010D2-128F-4E6B-893C-A729379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23359"/>
            <a:ext cx="37033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C80140F-D32E-4FFE-8C75-0E05EEE2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096511"/>
            <a:ext cx="352043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जिल्हा/सत्र न्यायाधीश व इतर न्यायिक अधिकारी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A9B99E5-A66D-4190-A0A1-20BE4B2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23359"/>
            <a:ext cx="5029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DD8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9DA12C6-7282-4373-B16E-E56D03C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4096511"/>
            <a:ext cx="48463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5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स्थानिक दिवाणी व फौजदारी प्रकरणे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EE30452-1D64-46D5-91D3-4DB7EFEE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424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17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अधिकारक्षेत्र म्हणजे एखाद्या न्यायालयाला कायद्याने दिलेला खटला ऐकण्याचा आणि त्यावर निर्णय देण्याचा अधिकार.</a:t>
            </a:r>
          </a:p>
        </p:txBody>
      </p:sp>
    </p:spTree>
    <p:extLst>
      <p:ext uri="{BB962C8B-B14F-4D97-AF65-F5344CB8AC3E}">
        <p14:creationId xmlns:p14="http://schemas.microsoft.com/office/powerpoint/2010/main" val="1261682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E090B5-5F95-41E8-AFB1-BB5A694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5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4649B5A-A636-4A55-80DC-67175D7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700" b="1">
                <a:solidFill>
                  <a:srgbClr val="FFFFFF"/>
                </a:solidFill>
                <a:latin typeface="Nirmala UI"/>
                <a:ea typeface="Nirmala UI"/>
                <a:cs typeface="Nirmala UI"/>
              </a:defRPr>
            </a:pPr>
            <a:r>
              <a:t>निष्कर्ष (Conclusion)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B672AC-2148-47F5-8952-BE2AD88A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749808"/>
            <a:ext cx="1737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1">
                <a:solidFill>
                  <a:srgbClr val="E1AE49"/>
                </a:solidFill>
                <a:latin typeface="Nirmala UI"/>
                <a:ea typeface="Nirmala UI"/>
                <a:cs typeface="Nirmala UI"/>
              </a:defRPr>
            </a:pPr>
            <a:r>
              <a:t>SUMMARY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E69452-3A88-425E-A912-8F232FA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37960"/>
            <a:ext cx="1115568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E4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4CD8E2-BAC3-474C-B05A-AD173C33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65392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buNone/>
              <a:defRPr sz="9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F870396-3E93-4615-894E-4F52BAB5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556248"/>
            <a:ext cx="502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500"/>
              </a:spcAft>
              <a:buNone/>
              <a:defRPr sz="1000" b="0">
                <a:solidFill>
                  <a:srgbClr val="5F6D7D"/>
                </a:solidFill>
                <a:latin typeface="Nirmala UI"/>
                <a:ea typeface="Nirmala UI"/>
                <a:cs typeface="Nirmala UI"/>
              </a:defRPr>
            </a:pPr>
            <a:r>
              <a:t>10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18C0E5-7E2C-4ED8-A1AA-9207769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424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400" b="1">
                <a:solidFill>
                  <a:srgbClr val="183153"/>
                </a:solidFill>
                <a:latin typeface="Nirmala UI"/>
                <a:ea typeface="Nirmala UI"/>
                <a:cs typeface="Nirmala UI"/>
              </a:defRPr>
            </a:pPr>
            <a:r>
              <a:t>भारतीय न्यायव्यवस्था लोकशाही आणि कायद्याच्या राज्याचा महत्त्वाचा आधार आहे.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D984C3C1-BB9F-4529-BF64-9EAC2B06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347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3D4E2-9E6A-4E58-8F42-F914F568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96469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0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न्यायालये नागरिकांच्या अधिकारांचे संरक्षण करतात.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67494E8-2D18-41FD-BE4A-B3AEE94C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783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B751E40-34E1-46A8-B94C-3DC13C0D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8960"/>
            <a:ext cx="96469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0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स्वतंत्र व निष्पक्ष न्यायामुळे कायद्यावरील विश्वास टिकतो.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2A32C0A-407C-4DD8-B252-FAE0234F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2191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E59D0F6-DDBF-48EA-9BAF-02555CDF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3320"/>
            <a:ext cx="96469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0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न्यायालयांची श्रेणी विविध प्रकारचे खटले योग्य स्तरावर हाताळते.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A5346E9-4979-4653-971D-098F270D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65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7E7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A11550-5875-4582-A6C1-7B9B468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7680"/>
            <a:ext cx="96469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00"/>
              </a:spcAft>
              <a:buNone/>
              <a:defRPr sz="2000" b="0">
                <a:solidFill>
                  <a:srgbClr val="2A3440"/>
                </a:solidFill>
                <a:latin typeface="Nirmala UI"/>
                <a:ea typeface="Nirmala UI"/>
                <a:cs typeface="Nirmala UI"/>
              </a:defRPr>
            </a:pPr>
            <a:r>
              <a:t>संविधानाचे सर्वोच्चत्व राखणे ही न्यायव्यवस्थेची महत्त्वाची भूमिका आहे.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4FCE1A9-B923-41D5-98E3-FF089E9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2500" b="1">
                <a:solidFill>
                  <a:srgbClr val="227E7E"/>
                </a:solidFill>
                <a:latin typeface="Nirmala UI"/>
                <a:ea typeface="Nirmala UI"/>
                <a:cs typeface="Nirmala UI"/>
              </a:defRPr>
            </a:pPr>
            <a:r>
              <a:t>धन्यवाद!  •  काही प्रश्न आहेत का?</a:t>
            </a:r>
          </a:p>
        </p:txBody>
      </p:sp>
    </p:spTree>
    <p:extLst>
      <p:ext uri="{BB962C8B-B14F-4D97-AF65-F5344CB8AC3E}">
        <p14:creationId xmlns:p14="http://schemas.microsoft.com/office/powerpoint/2010/main" val="19144817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2026-10-11T08:21:41.4800000Z</dcterms:created>
  <dcterms:modified xsi:type="dcterms:W3CDTF">2026-10-11T08:21:41.4800000Z</dcterms:modified>
</coreProperties>
</file>
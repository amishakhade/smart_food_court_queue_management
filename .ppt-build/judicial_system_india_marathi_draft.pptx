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d2ce9f13e044c5" /><Relationship Type="http://schemas.openxmlformats.org/officeDocument/2006/relationships/extended-properties" Target="/docProps/app.xml" Id="R3e38071abafa45a3" /><Relationship Type="http://schemas.openxmlformats.org/officeDocument/2006/relationships/officeDocument" Target="/ppt/presentation.xml" Id="R608c79fa27eb40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5ece449dd04404"/>
  </p:sldMasterIdLst>
  <p:notesMasterIdLst>
    <p:notesMasterId xmlns:r="http://schemas.openxmlformats.org/officeDocument/2006/relationships" r:id="R1691a24105054704"/>
  </p:notesMasterIdLst>
  <p:sldIdLst>
    <p:sldId xmlns:r="http://schemas.openxmlformats.org/officeDocument/2006/relationships" id="256" r:id="Rb508c74927744d30"/>
    <p:sldId xmlns:r="http://schemas.openxmlformats.org/officeDocument/2006/relationships" id="257" r:id="R0c65ee88605c44ff"/>
    <p:sldId xmlns:r="http://schemas.openxmlformats.org/officeDocument/2006/relationships" id="258" r:id="R7d563f4ef8d74e5f"/>
    <p:sldId xmlns:r="http://schemas.openxmlformats.org/officeDocument/2006/relationships" id="259" r:id="R6de55c8967604314"/>
    <p:sldId xmlns:r="http://schemas.openxmlformats.org/officeDocument/2006/relationships" id="260" r:id="R14cc911c9b014d93"/>
    <p:sldId xmlns:r="http://schemas.openxmlformats.org/officeDocument/2006/relationships" id="261" r:id="R929c20a1515744e9"/>
    <p:sldId xmlns:r="http://schemas.openxmlformats.org/officeDocument/2006/relationships" id="262" r:id="R47324ac504dd435b"/>
    <p:sldId xmlns:r="http://schemas.openxmlformats.org/officeDocument/2006/relationships" id="263" r:id="R39673ed36e56437b"/>
    <p:sldId xmlns:r="http://schemas.openxmlformats.org/officeDocument/2006/relationships" id="264" r:id="R42bd9c082e804b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ff18f3fc1f44b4" /><Relationship Type="http://schemas.openxmlformats.org/officeDocument/2006/relationships/slideMaster" Target="/ppt/slideMasters/slideMaster1.xml" Id="R645ece449dd04404" /><Relationship Type="http://schemas.openxmlformats.org/officeDocument/2006/relationships/notesMaster" Target="/ppt/notesMasters/notesMaster1.xml" Id="R1691a24105054704" /><Relationship Type="http://schemas.openxmlformats.org/officeDocument/2006/relationships/presProps" Target="/ppt/presProps.xml" Id="R0ee1ab586f1d4a82" /><Relationship Type="http://schemas.openxmlformats.org/officeDocument/2006/relationships/tableStyles" Target="/ppt/tableStyles.xml" Id="R9b42716cdad14a44" /><Relationship Type="http://schemas.openxmlformats.org/officeDocument/2006/relationships/slide" Target="/ppt/slides/slide1.xml" Id="Rb508c74927744d30" /><Relationship Type="http://schemas.openxmlformats.org/officeDocument/2006/relationships/slide" Target="/ppt/slides/slide2.xml" Id="R0c65ee88605c44ff" /><Relationship Type="http://schemas.openxmlformats.org/officeDocument/2006/relationships/slide" Target="/ppt/slides/slide3.xml" Id="R7d563f4ef8d74e5f" /><Relationship Type="http://schemas.openxmlformats.org/officeDocument/2006/relationships/slide" Target="/ppt/slides/slide4.xml" Id="R6de55c8967604314" /><Relationship Type="http://schemas.openxmlformats.org/officeDocument/2006/relationships/slide" Target="/ppt/slides/slide5.xml" Id="R14cc911c9b014d93" /><Relationship Type="http://schemas.openxmlformats.org/officeDocument/2006/relationships/slide" Target="/ppt/slides/slide6.xml" Id="R929c20a1515744e9" /><Relationship Type="http://schemas.openxmlformats.org/officeDocument/2006/relationships/slide" Target="/ppt/slides/slide7.xml" Id="R47324ac504dd435b" /><Relationship Type="http://schemas.openxmlformats.org/officeDocument/2006/relationships/slide" Target="/ppt/slides/slide8.xml" Id="R39673ed36e56437b" /><Relationship Type="http://schemas.openxmlformats.org/officeDocument/2006/relationships/slide" Target="/ppt/slides/slide9.xml" Id="R42bd9c082e804b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672698ef4d4e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a5c6792a79477a" /><Relationship Type="http://schemas.openxmlformats.org/officeDocument/2006/relationships/notesMaster" Target="/ppt/notesMasters/notesMaster1.xml" Id="Rb88e216394c64e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8b58309a544d3c" /><Relationship Type="http://schemas.openxmlformats.org/officeDocument/2006/relationships/notesMaster" Target="/ppt/notesMasters/notesMaster1.xml" Id="R28854d0c6ba447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e33de77bb747f5" /><Relationship Type="http://schemas.openxmlformats.org/officeDocument/2006/relationships/notesMaster" Target="/ppt/notesMasters/notesMaster1.xml" Id="Rcd14ab6363ec4a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99031ce1674502" /><Relationship Type="http://schemas.openxmlformats.org/officeDocument/2006/relationships/notesMaster" Target="/ppt/notesMasters/notesMaster1.xml" Id="R391f44e63e8349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99690e2cff44ae" /><Relationship Type="http://schemas.openxmlformats.org/officeDocument/2006/relationships/notesMaster" Target="/ppt/notesMasters/notesMaster1.xml" Id="R78f59cb9e0ee45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4baa11db6b4f24" /><Relationship Type="http://schemas.openxmlformats.org/officeDocument/2006/relationships/notesMaster" Target="/ppt/notesMasters/notesMaster1.xml" Id="Reb74fe4ec46b4e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f374c29c2a4f66" /><Relationship Type="http://schemas.openxmlformats.org/officeDocument/2006/relationships/notesMaster" Target="/ppt/notesMasters/notesMaster1.xml" Id="Rca345117586f4d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427f0b3b364435" /><Relationship Type="http://schemas.openxmlformats.org/officeDocument/2006/relationships/notesMaster" Target="/ppt/notesMasters/notesMaster1.xml" Id="R1c74e719adf443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20cf795c0c4643" /><Relationship Type="http://schemas.openxmlformats.org/officeDocument/2006/relationships/notesMaster" Target="/ppt/notesMasters/notesMaster1.xml" Id="Rb4419fd4708a4f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aef7614284d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fd40b8bdd46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4de719fad54c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56f26b0104e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8a8361ec947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fe999a2ad34c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EF529F-CFA3-4C81-B2C4-C37DF3E4BA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CFEC90-A439-4C07-804F-15B456B858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C16C601-9D7C-4A1B-9F3E-D7E82EBC61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B59DC9-2747-437B-91BE-44C30845F9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7EC243-965F-4C44-ADD2-BC55E45972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E45FB5-760F-4A77-8201-9220C0801F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CFDA10-8F40-4E5B-8173-1643CBB128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3972D1-0504-478C-ADB1-E6CD96ED64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64D23F-2DEB-4462-9EE1-EF451A9698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B188E0-A2BF-445D-9DBF-452F9FDC43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f89c7d49fe418c" /><Relationship Type="http://schemas.openxmlformats.org/officeDocument/2006/relationships/slideLayout" Target="/ppt/slideLayouts/slideLayout1.xml" Id="R1f349aaf01c34cdd" /><Relationship Type="http://schemas.openxmlformats.org/officeDocument/2006/relationships/slideLayout" Target="/ppt/slideLayouts/slideLayout2.xml" Id="R8521084fa82e4756" /><Relationship Type="http://schemas.openxmlformats.org/officeDocument/2006/relationships/slideLayout" Target="/ppt/slideLayouts/slideLayout3.xml" Id="R5283485e53a24513" /><Relationship Type="http://schemas.openxmlformats.org/officeDocument/2006/relationships/slideLayout" Target="/ppt/slideLayouts/slideLayout4.xml" Id="Re6b3c7e1050f49c5" /><Relationship Type="http://schemas.openxmlformats.org/officeDocument/2006/relationships/slideLayout" Target="/ppt/slideLayouts/slideLayout5.xml" Id="R06a2c1039dbd4f55" /><Relationship Type="http://schemas.openxmlformats.org/officeDocument/2006/relationships/slideLayout" Target="/ppt/slideLayouts/slideLayout6.xml" Id="Rfe201907969545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349aaf01c34cdd"/>
    <p:sldLayoutId xmlns:r="http://schemas.openxmlformats.org/officeDocument/2006/relationships" id="2147483650" r:id="R8521084fa82e4756"/>
    <p:sldLayoutId xmlns:r="http://schemas.openxmlformats.org/officeDocument/2006/relationships" id="2147483651" r:id="R5283485e53a24513"/>
    <p:sldLayoutId xmlns:r="http://schemas.openxmlformats.org/officeDocument/2006/relationships" id="2147483652" r:id="Re6b3c7e1050f49c5"/>
    <p:sldLayoutId xmlns:r="http://schemas.openxmlformats.org/officeDocument/2006/relationships" id="2147483653" r:id="R06a2c1039dbd4f55"/>
    <p:sldLayoutId xmlns:r="http://schemas.openxmlformats.org/officeDocument/2006/relationships" id="2147483654" r:id="Rfe201907969545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8a2bb0debd467b" /><Relationship Type="http://schemas.openxmlformats.org/officeDocument/2006/relationships/notesSlide" Target="/ppt/notesSlides/notesSlide1.xml" Id="Rbbf8ae864f7f44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06488de4904b75" /><Relationship Type="http://schemas.openxmlformats.org/officeDocument/2006/relationships/notesSlide" Target="/ppt/notesSlides/notesSlide2.xml" Id="R979f720ff6eb4a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15fcdda4114553" /><Relationship Type="http://schemas.openxmlformats.org/officeDocument/2006/relationships/notesSlide" Target="/ppt/notesSlides/notesSlide3.xml" Id="Rc0a8c4f9358d4a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ed90c28d9f4e68" /><Relationship Type="http://schemas.openxmlformats.org/officeDocument/2006/relationships/notesSlide" Target="/ppt/notesSlides/notesSlide4.xml" Id="Rc4506f0bddaa46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f6726e1cd424f" /><Relationship Type="http://schemas.openxmlformats.org/officeDocument/2006/relationships/notesSlide" Target="/ppt/notesSlides/notesSlide5.xml" Id="Ra688da5e13e14f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8aed41ee7c4964" /><Relationship Type="http://schemas.openxmlformats.org/officeDocument/2006/relationships/notesSlide" Target="/ppt/notesSlides/notesSlide6.xml" Id="R11c4c2b4689b45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9bb9b46abb4b32" /><Relationship Type="http://schemas.openxmlformats.org/officeDocument/2006/relationships/notesSlide" Target="/ppt/notesSlides/notesSlide7.xml" Id="Reced6764070745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c4d0da75464c37" /><Relationship Type="http://schemas.openxmlformats.org/officeDocument/2006/relationships/notesSlide" Target="/ppt/notesSlides/notesSlide8.xml" Id="Rb4087e58dbab4c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ab39fccd744a48" /><Relationship Type="http://schemas.openxmlformats.org/officeDocument/2006/relationships/notesSlide" Target="/ppt/notesSlides/notesSlide9.xml" Id="R77f514a1f3bc4a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29052-A5BF-49FB-BF09-7F37B545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4C77A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4C77A"/>
                </a:solidFill>
              </a:defRPr>
            </a:pPr>
            <a:r>
              <a:rPr sz="1200" b="1">
                <a:solidFill>
                  <a:srgbClr val="F4C77A"/>
                </a:solidFill>
              </a:rPr>
              <a:t>भारतीय राज्यघटना  |  नागरिकशास्त्र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964FA-643F-458F-BE0C-16C8D301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भारतातील न्यायव्यवस्था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E436A-9154-438F-959B-9E8B03FF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D9E6F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D9E6F2"/>
                </a:solidFill>
              </a:defRPr>
            </a:pPr>
            <a:r>
              <a:rPr sz="1950" b="0">
                <a:solidFill>
                  <a:srgbClr val="D9E6F2"/>
                </a:solidFill>
              </a:rPr>
              <a:t>न्यायालयांची श्रेणी, रचना आणि अधिकारक्षेत्र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7B09B-EB89-4774-A0E5-565CC840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214A6B"/>
          </a:solidFill>
          <a:ln xmlns:a="http://schemas.openxmlformats.org/drawingml/2006/main" w="9525">
            <a:solidFill>
              <a:srgbClr val="214A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A4938-46C0-408D-AA9D-7BDB83F2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4C77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4C77A"/>
                </a:solidFill>
              </a:defRPr>
            </a:pPr>
            <a:r>
              <a:rPr sz="1350" b="1">
                <a:solidFill>
                  <a:srgbClr val="F4C77A"/>
                </a:solidFill>
              </a:rPr>
              <a:t>मुख्य कल्पना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B9C93-DDCE-41EA-804B-3F8D493A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न्यायालयांची स्वतंत्र, स्तरबद्ध आणि घटनात्मक रचना नागरिकांच्या हक्कांचे संरक्षण करते.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E2B2E-3CBD-43C9-B1E5-6EAFC5D7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9E6F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D9E6F2"/>
                </a:solidFill>
              </a:defRPr>
            </a:pPr>
            <a:r>
              <a:rPr sz="1200" b="0">
                <a:solidFill>
                  <a:srgbClr val="D9E6F2"/>
                </a:solidFill>
              </a:rPr>
              <a:t>अभ्यासासाठी संक्षिप्त PPT</a:t>
            </a:r>
          </a:p>
        </p:txBody>
      </p:sp>
    </p:spTree>
    <p:extLst>
      <p:ext uri="{BB962C8B-B14F-4D97-AF65-F5344CB8AC3E}">
        <p14:creationId xmlns:p14="http://schemas.microsoft.com/office/powerpoint/2010/main" val="12192811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972307-618D-4D6B-B6DE-43BB0A56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9782E"/>
                </a:solidFill>
              </a:defRPr>
            </a:pPr>
            <a:r>
              <a:rPr sz="975" b="1">
                <a:solidFill>
                  <a:srgbClr val="D9782E"/>
                </a:solidFill>
              </a:rPr>
              <a:t>आढावा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1BFD5-E441-4941-8433-AEC61EDC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न्यायव्यवस्थेची मूलभूत वैशिष्ट्ये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B12F4-982F-4724-9359-521E31C5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भारतीय न्यायव्यवस्था संविधानाच्या चौकटीत काम करते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94A3D-9E59-4D14-82C8-D288E64C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953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5CE40-48CF-4F8F-911C-4E60A4F9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14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A85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E1317-A6CA-4003-8062-86608450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स्वतंत्रता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F5A29-FCB7-41FB-A3C5-5A3753A5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193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कार्यपालिका व विधिमंडळापासून संस्थात्मक स्वायत्तता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022C5-AC0A-4C72-A0F6-CC890FBF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4953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A0975-7D2D-46FB-B18D-785CCC39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114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7A63"/>
          </a:solidFill>
          <a:ln xmlns:a="http://schemas.openxmlformats.org/drawingml/2006/main" w="9525">
            <a:solidFill>
              <a:srgbClr val="327A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838B4-97D3-469E-9817-20DDD384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1907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एकात्मिक रचना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0E285-BA5B-4154-A5DC-2628B52E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193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सर्व स्तरांवरील न्यायालयांसाठी एकच न्यायव्यवस्था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543AE-6454-4928-8410-963F18F8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953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9E1EB-0368-46BD-8ADB-94D954E4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14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2E"/>
          </a:solidFill>
          <a:ln xmlns:a="http://schemas.openxmlformats.org/drawingml/2006/main" w="9525">
            <a:solidFill>
              <a:srgbClr val="D978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F7B14-374A-47F1-91F5-455E0919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न्यायिक पुनरावलोकन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87E13-F56D-4A5D-B561-AE0693BD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291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कायदे संविधानाशी सुसंगत आहेत का हे तपासणे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A9BBE-0CE9-45A6-BD6C-E1C49759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62375"/>
            <a:ext cx="4953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00B82-41E0-40EF-9AC5-4FE90042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62375"/>
            <a:ext cx="114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24A"/>
          </a:solidFill>
          <a:ln xmlns:a="http://schemas.openxmlformats.org/drawingml/2006/main" w="9525">
            <a:solidFill>
              <a:srgbClr val="E7B2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808AF4-B214-4ED2-90D9-E686A46C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005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कायद्याचे राज्य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D2979B-56F7-4A8C-BE5B-1A41EF41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4291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सर्व व्यक्तींवर समान कायदा लागू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A8A1C-FD07-42F9-8B5C-430238B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भारतीय न्यायव्यवस्था  |  शैक्षणिक सादरीकरण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097FB-6858-4D5B-A1CF-7DA074CA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B6573"/>
                </a:solidFill>
              </a:defRPr>
            </a:pPr>
            <a:r>
              <a:rPr sz="900" b="1">
                <a:solidFill>
                  <a:srgbClr val="5B65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0248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17556-CE05-4F70-A2C4-04DC33B4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9782E"/>
                </a:solidFill>
              </a:defRPr>
            </a:pPr>
            <a:r>
              <a:rPr sz="975" b="1">
                <a:solidFill>
                  <a:srgbClr val="D9782E"/>
                </a:solidFill>
              </a:rPr>
              <a:t>रचना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CAA22-3168-4011-BEE5-3337B978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न्यायालयांची श्रेणी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DC2EC-24A2-4CD1-93F5-C36B4287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वरच्या स्तराचा निर्णय खालच्या स्तरांसाठी मार्गदर्शक ठरतो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15AC9-6A49-444B-BB4C-DED9D3B7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790700"/>
            <a:ext cx="8858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1B212-8D97-4300-BD08-79D6309A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952625"/>
            <a:ext cx="832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सर्वोच्च न्यायालय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8AA49-330B-4844-ABD0-05D35BFF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305050"/>
            <a:ext cx="832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E8F1F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E8F1F6"/>
                </a:solidFill>
              </a:defRPr>
            </a:pPr>
            <a:r>
              <a:rPr sz="1200" b="0">
                <a:solidFill>
                  <a:srgbClr val="E8F1F6"/>
                </a:solidFill>
              </a:rPr>
              <a:t>राष्ट्रीय स्तर  |  घटनात्मक व अपीलीय अंतिम न्यायालय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161DF-0C42-45F6-9E4D-084CE26A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622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D9782E"/>
                </a:solidFill>
              </a:defRPr>
            </a:pPr>
            <a:r>
              <a:rPr sz="2100" b="1">
                <a:solidFill>
                  <a:srgbClr val="D9782E"/>
                </a:solidFill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7C419-F1AC-4E53-87FA-A998D962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171825"/>
            <a:ext cx="714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F5A85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FA2CE-6553-469D-821B-9071F568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333750"/>
            <a:ext cx="661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उच्च न्यायालये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A49D0-968F-48CB-B25C-56ABBE8D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86175"/>
            <a:ext cx="661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E8F1F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E8F1F6"/>
                </a:solidFill>
              </a:defRPr>
            </a:pPr>
            <a:r>
              <a:rPr sz="1200" b="0">
                <a:solidFill>
                  <a:srgbClr val="E8F1F6"/>
                </a:solidFill>
              </a:rPr>
              <a:t>राज्य / केंद्रशासित प्रदेश  |  राज्य पातळीवरील सर्वोच्च न्यायालय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91982-78A3-41CB-BC67-D69BF478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D9782E"/>
                </a:solidFill>
              </a:defRPr>
            </a:pPr>
            <a:r>
              <a:rPr sz="2100" b="1">
                <a:solidFill>
                  <a:srgbClr val="D9782E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8575B-6599-4FED-8FFB-F44FB8A4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52950"/>
            <a:ext cx="542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27A63"/>
          </a:solidFill>
          <a:ln xmlns:a="http://schemas.openxmlformats.org/drawingml/2006/main" w="9525">
            <a:solidFill>
              <a:srgbClr val="327A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5D3EB-032A-454D-B0FA-4D5768F6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14875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जिल्हा व अधीनस्थ न्यायालये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DE49E5-C8FD-4266-B866-E9C60A89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06730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E8F1F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E8F1F6"/>
                </a:solidFill>
              </a:defRPr>
            </a:pPr>
            <a:r>
              <a:rPr sz="1200" b="0">
                <a:solidFill>
                  <a:srgbClr val="E8F1F6"/>
                </a:solidFill>
              </a:rPr>
              <a:t>जिल्हा स्तर  |  दिवाणी व फौजदारी प्रकरणांची प्राथमिक सुनावणी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76541-7B51-49E7-BA52-BFE35690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भारतीय न्यायव्यवस्था  |  शैक्षणिक सादरीकरण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DA89F-7532-4F95-9189-7BE828DD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B6573"/>
                </a:solidFill>
              </a:defRPr>
            </a:pPr>
            <a:r>
              <a:rPr sz="900" b="1">
                <a:solidFill>
                  <a:srgbClr val="5B65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31904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27E442-B5ED-4DEF-BBF3-125585F2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9782E"/>
                </a:solidFill>
              </a:defRPr>
            </a:pPr>
            <a:r>
              <a:rPr sz="975" b="1">
                <a:solidFill>
                  <a:srgbClr val="D9782E"/>
                </a:solidFill>
              </a:rPr>
              <a:t>सर्वोच्च न्यायालय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78137-7C31-433F-B4AD-CF611971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संघराज्याचा सर्वोच्च न्यायिक मंच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9D7E4-9342-42CE-A280-D94DA307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भारताच्या संविधानातील कलम 124 ते 147 मध्ये तरतुदी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1F416-898D-42E0-B113-C4C884B1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953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7E18D-B76F-4B9F-958E-3F343133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रचना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787A1-D119-4677-A97F-0C1D096F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भारताचे मुख्य न्यायमूर्ती आणि इतर न्यायमूर्ती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6AEEC-E0CB-4911-B97B-B2402A01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न्यायमूर्तींची नियुक्ती राष्ट्रपती करतात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E6122-C7DC-4F67-A794-38DCD371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718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न्यायमूर्तींचे निवृत्ती वय: 65 वर्षे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01052-2B33-4603-8174-8B3FB692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खंडपीठानुसार सुनावणी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1BB0C-706D-4A10-ABBB-417C01FC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143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C9DD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8EFDD-AA24-45AA-BF49-EB5ECC85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5A85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F5A85"/>
                </a:solidFill>
              </a:defRPr>
            </a:pPr>
            <a:r>
              <a:rPr sz="1875" b="1">
                <a:solidFill>
                  <a:srgbClr val="1F5A85"/>
                </a:solidFill>
              </a:rPr>
              <a:t>मुख्य अधिकारक्षेत्र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2E11AA-94FA-4225-8251-65D11E65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•  मूळ अधिकारक्षेत्र: केंद्र–राज्य वाद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DE2F3-B884-4702-B411-6B631E38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•  अपीलीय अधिकारक्षेत्र: दिवाणी, फौजदारी, घटनात्मक अपील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FFB78-6FBA-47E3-905B-979D9C45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909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•  घटनात्मक उपाय: कलम 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A8087-C56F-4720-83CD-65B23773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767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•  विशेष अनुमती अपील: कलम 136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A119D0-B8F4-4334-927D-3606AFC0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624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•  कायद्याचा अंतिम अर्थ लावणे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02188D-D521-4004-A8AF-906FF177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भारतीय न्यायव्यवस्था  |  शैक्षणिक सादरीकरण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7B8110-54B7-4628-8448-BAAD7587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B6573"/>
                </a:solidFill>
              </a:defRPr>
            </a:pPr>
            <a:r>
              <a:rPr sz="900" b="1">
                <a:solidFill>
                  <a:srgbClr val="5B65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441618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88FD6-E135-48B0-A382-352015D3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9782E"/>
                </a:solidFill>
              </a:defRPr>
            </a:pPr>
            <a:r>
              <a:rPr sz="975" b="1">
                <a:solidFill>
                  <a:srgbClr val="D9782E"/>
                </a:solidFill>
              </a:rPr>
              <a:t>उच्च न्यायालये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778C0-F684-4176-B21D-B3A1C363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राज्य पातळीवरील सर्वोच्च न्यायालय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274E9-9C3D-495C-9401-76F3C7D0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प्रत्येक उच्च न्यायालयाचे अधिकारक्षेत्र संबंधित राज्य किंवा केंद्रशासित प्रदेशावर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59575-D4E2-4CFC-B23E-29A091A3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7625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0E2A7-37A6-4250-91D2-EEA7982F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रचना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26F8D-708D-4BC8-B7BD-03B2F060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मुख्य न्यायमूर्ती व इतर न्यायमूर्ती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07A64-14F8-4DD9-940A-7C5FCB06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नियुक्ती राष्ट्रपती करतात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78E3A-5615-4C66-BDBF-AF89565D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न्यायमूर्तींचे निवृत्ती वय: 62 वर्षे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A65E5-BEC9-4DFE-9F63-5FF337A4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एकापेक्षा अधिक राज्यांसाठी संयुक्त उच्च न्यायालय शक्य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A6AD6-49E6-4497-AA77-FD908C5D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5381625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9525">
            <a:solidFill>
              <a:srgbClr val="F3D0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20D7C-3D58-4B2C-8B7C-C9011E53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9782E"/>
                </a:solidFill>
              </a:defRPr>
            </a:pPr>
            <a:r>
              <a:rPr sz="1875" b="1">
                <a:solidFill>
                  <a:srgbClr val="D9782E"/>
                </a:solidFill>
              </a:rPr>
              <a:t>अधिकारक्षेत्र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1CA88-AF22-4103-9640-9A7A140F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193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•  मूळ व अपीलीय अधिकारक्षेत्र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29D9E-F4DD-40C9-8D78-40807A1C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718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•  रिट अधिकारक्षेत्र: कलम 226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57686-36D3-4C2D-ABE1-D4BC4BD7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242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•  अधीनस्थ न्यायालयांवर देखरेख: कलम 227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287D1B-684D-46D1-A258-E9EF22D9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767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•  दिवाणी व फौजदारी अपीलांची सुनावणी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981600-795B-4B25-9B8A-B85F9A7A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भारतीय न्यायव्यवस्था  |  शैक्षणिक सादरीकरण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1ED5D-D1A4-4B41-BE28-66B906C6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B6573"/>
                </a:solidFill>
              </a:defRPr>
            </a:pPr>
            <a:r>
              <a:rPr sz="900" b="1">
                <a:solidFill>
                  <a:srgbClr val="5B65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8515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5C0BB5-9553-4B3C-BADE-8FCF9C08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9782E"/>
                </a:solidFill>
              </a:defRPr>
            </a:pPr>
            <a:r>
              <a:rPr sz="975" b="1">
                <a:solidFill>
                  <a:srgbClr val="D9782E"/>
                </a:solidFill>
              </a:rPr>
              <a:t>अधीनस्थ न्यायालये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5002D-156F-4DA2-9FE9-51D5B140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जिल्हा न्यायालयापासून तालुका पातळीपर्यंत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8E9FE-84D8-484F-B983-E73B74F7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न्यायव्यवस्थेचा नागरिकांशी सर्वाधिक थेट संपर्क या स्तरावर होतो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B1EA1-D92B-4BC6-B6D4-5B347636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857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CCB32-A76A-4D00-987A-356B4C9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857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27A63"/>
          </a:solidFill>
          <a:ln xmlns:a="http://schemas.openxmlformats.org/drawingml/2006/main" w="9525">
            <a:solidFill>
              <a:srgbClr val="327A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D336C-C6C3-4DE3-BFCB-A6D94DA1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जिल्हा न्यायालय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D73C9-50C1-47D7-B72A-5607F0A6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003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जिल्हा न्यायाधीश यांच्या नेतृत्वाखाली</a:t>
            </a:r>
          </a:p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दिवाणी व फौजदारी प्रकरणे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6782F-3967-4923-A0D3-C448A39F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2857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7B074-F6A9-4512-9AB5-F93CCF65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2857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5A85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6ECDA-780A-4214-9E54-CDD9DC6F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दिवाणी न्यायालये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C92FD-5BB0-42CC-B806-D297AE12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003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मालमत्ता, करार, नुकसानभरपाई</a:t>
            </a:r>
          </a:p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आर्थिक व कौटुंबिक वाद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745D5-8D65-4FFA-A276-FD47B4E5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2857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7AEBF-87C5-4534-91BA-56B10F4C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2857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9782E"/>
          </a:solidFill>
          <a:ln xmlns:a="http://schemas.openxmlformats.org/drawingml/2006/main" w="9525">
            <a:solidFill>
              <a:srgbClr val="D978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EBD52-1484-44B4-B9C7-BD48C8FA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फौजदारी न्यायालये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B5753-7A3A-4AC5-867F-718283FC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0003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गुन्ह्यांची सुनावणी</a:t>
            </a:r>
          </a:p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दंड व शिक्षा ठरवणे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4C0A1-4D9A-46FF-A735-40DD4C32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B6573"/>
                </a:solidFill>
              </a:defRPr>
            </a:pPr>
            <a:r>
              <a:rPr sz="1500" b="1">
                <a:solidFill>
                  <a:srgbClr val="5B6573"/>
                </a:solidFill>
              </a:rPr>
              <a:t>प्रशासकीय नियंत्रण व अपीलांची शृंखला उच्च न्यायालयाशी जोडलेली असते.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6A353-0EC8-4783-95A9-2D8A9D79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भारतीय न्यायव्यवस्था  |  शैक्षणिक सादरीकरण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24A04-182A-44A5-BE38-FE1DCCE4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B6573"/>
                </a:solidFill>
              </a:defRPr>
            </a:pPr>
            <a:r>
              <a:rPr sz="900" b="1">
                <a:solidFill>
                  <a:srgbClr val="5B657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8243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55896E-A6DA-4927-A6ED-03885DBD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9782E"/>
                </a:solidFill>
              </a:defRPr>
            </a:pPr>
            <a:r>
              <a:rPr sz="975" b="1">
                <a:solidFill>
                  <a:srgbClr val="D9782E"/>
                </a:solidFill>
              </a:rPr>
              <a:t>अधिकारक्षेत्र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C11A4-9EB1-476B-ACD6-E8B245E9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कोणते न्यायालय कोणता वाद ऐकते?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1B9C1-3274-47E8-A94D-1F1718F2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अधिकारक्षेत्रामुळे योग्य न्यायालयाची निवड स्पष्ट होते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7FE37-1577-42B0-AFD6-CF48101B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10763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F7500-A6BC-4B25-A7C3-A1A29DDB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744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585DA-1ECC-4699-9A31-FEEC9877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621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मूळ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F687B-5320-4DEC-8A0B-3DBB795C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0502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प्रकरण प्रथम कोणत्या न्यायालयात दाखल होते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A09DB-04BF-4CEB-98D5-7E73195A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050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उच्च न्यायालयातील काही घटनात्मक वाद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137F3-C426-4FBC-BE84-09A6EEB0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10744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7FA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B2182-0C6A-4AA0-AAF2-6DFE454C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432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अपीलीय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BE20E-199C-46B4-B050-E0306069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860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खालच्या न्यायालयाच्या निर्णयाविरुद्ध अपील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3E90F-CC68-4847-8CF8-14646004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860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उच्च न्यायालय आणि सर्वोच्च न्यायालय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BD2D5-B486-490B-ACF8-653E96FB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0744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74FB7-536D-490F-8AFF-A5F6BDB1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242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रिट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93E79-13B3-43F7-A932-3B6730A0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6712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हक्कांच्या संरक्षणासाठी आदेश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5BE28-E02B-4B25-BEC6-DE163E35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671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सर्वोच्च: कलम 32  |  उच्च: कलम 226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93642-8F6E-4884-A5D7-0FBFA4D4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744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7FA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E9DAC-380A-42DA-BB71-1CE8A06F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सल्लागार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95A78-BA57-4D85-8CC3-A067B697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481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राष्ट्रपतींच्या प्रश्नावर मत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375CA-2BD4-4BF8-A5B3-12A7E692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481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सर्वोच्च न्यायालय: कलम 143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8F9D57-5E2F-4D1C-B17D-DF78D828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भारतीय न्यायव्यवस्था  |  शैक्षणिक सादरीकरण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9EA53B-CB64-43A8-BB6D-8260D952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B6573"/>
                </a:solidFill>
              </a:defRPr>
            </a:pPr>
            <a:r>
              <a:rPr sz="900" b="1">
                <a:solidFill>
                  <a:srgbClr val="5B657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244156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4EEDD-0D30-4AE0-9F8C-C7A6B421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9782E"/>
                </a:solidFill>
              </a:defRPr>
            </a:pPr>
            <a:r>
              <a:rPr sz="975" b="1">
                <a:solidFill>
                  <a:srgbClr val="D9782E"/>
                </a:solidFill>
              </a:rPr>
              <a:t>न्यायिक स्वातंत्र्य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A65E3-D70E-41A4-9912-218B5F2E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संविधानाचे संरक्षण आणि नियंत्रण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00BB4-6A30-4FE9-A356-AC526B8E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स्वातंत्र्याबरोबर उत्तरदायित्वही आवश्यक आहे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31D77-EB8E-410C-B673-94017045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762500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5BCA6-404E-4005-AB94-F8C62F30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स्वातंत्र्याची साधने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782FF-B5DF-457C-9564-9D5FC65B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न्यायालयीन पुनरावलोकन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ED6C5-8380-4C69-89E6-90D45497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मूलभूत अधिकारांचे संरक्षण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C988D-2EB8-49C7-86A0-EFD9BBDB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न्यायमूर्तींच्या सेवाशर्तींचे संरक्षण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B65EB-664C-4CCA-AC2A-67EE8E18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अवमान अधिकार व न्यायालयाचा गौरव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BC624-6213-4CD3-935F-D3C90DF5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5381625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C9DD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F8B30-2217-4C09-B71B-7B24A6F2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5A85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F5A85"/>
                </a:solidFill>
              </a:defRPr>
            </a:pPr>
            <a:r>
              <a:rPr sz="1875" b="1">
                <a:solidFill>
                  <a:srgbClr val="1F5A85"/>
                </a:solidFill>
              </a:rPr>
              <a:t>महत्त्वाचा समतोल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9B130-6EB3-4CE7-88FE-A36211F9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62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327A6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27A63"/>
                </a:solidFill>
              </a:defRPr>
            </a:pPr>
            <a:r>
              <a:rPr sz="1725" b="1">
                <a:solidFill>
                  <a:srgbClr val="327A63"/>
                </a:solidFill>
              </a:rPr>
              <a:t>न्यायालयीन स्वायत्तता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C89C8-F276-4442-912E-7A07A882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241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D9782E"/>
                </a:solidFill>
              </a:defRPr>
            </a:pPr>
            <a:r>
              <a:rPr sz="2100" b="1">
                <a:solidFill>
                  <a:srgbClr val="D9782E"/>
                </a:solidFill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45289-E6B1-42B3-B75B-B9BE061F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62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पारदर्शकता व उत्तरदायित्व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A1E21-C942-4677-AB66-F59E9B35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766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D9782E"/>
                </a:solidFill>
              </a:defRPr>
            </a:pPr>
            <a:r>
              <a:rPr sz="2100" b="1">
                <a:solidFill>
                  <a:srgbClr val="D9782E"/>
                </a:solidFill>
              </a:rPr>
              <a:t>=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AF25A-BBB2-49BE-830F-45968B44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324F"/>
                </a:solidFill>
              </a:defRPr>
            </a:pPr>
            <a:r>
              <a:rPr sz="1950" b="1">
                <a:solidFill>
                  <a:srgbClr val="16324F"/>
                </a:solidFill>
              </a:rPr>
              <a:t>लोकशाहीतील विश्वास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90752-1198-4219-888E-B544B270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भारतीय न्यायव्यवस्था  |  शैक्षणिक सादरीकरण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241537-6EA3-43EB-9616-1622E5AA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B6573"/>
                </a:solidFill>
              </a:defRPr>
            </a:pPr>
            <a:r>
              <a:rPr sz="900" b="1">
                <a:solidFill>
                  <a:srgbClr val="5B657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855710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6638D-6E48-43B8-BB32-34EAB9ED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9782E"/>
                </a:solidFill>
              </a:defRPr>
            </a:pPr>
            <a:r>
              <a:rPr sz="975" b="1">
                <a:solidFill>
                  <a:srgbClr val="D9782E"/>
                </a:solidFill>
              </a:rPr>
              <a:t>झटपट पुनरावलोकन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E2A4F-10A2-4A21-91E1-5CE907F0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परीक्षेसाठी लक्षात ठेवण्यासारखे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8B21C-8AAD-4AFF-953B-890C73F0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तीन प्रश्न, एक संपूर्ण चित्र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8A1F9-48F6-4245-BBA9-799634E4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D9782E"/>
                </a:solidFill>
              </a:defRPr>
            </a:pPr>
            <a:r>
              <a:rPr sz="2700" b="1">
                <a:solidFill>
                  <a:srgbClr val="D9782E"/>
                </a:solidFill>
              </a:rPr>
              <a:t>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239DC-F995-4FC2-B069-3A7AA587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52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श्रेणी?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D7150-28DF-4F07-9013-47CFBD7D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7167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सर्वोच्च → उच्च → जिल्हा व अधीनस्थ न्यायालये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C9160-2B0B-4268-BA9A-CF7DF277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D9782E"/>
                </a:solidFill>
              </a:defRPr>
            </a:pPr>
            <a:r>
              <a:rPr sz="2700" b="1">
                <a:solidFill>
                  <a:srgbClr val="D9782E"/>
                </a:solidFill>
              </a:rPr>
              <a:t>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3110C-C910-4AA4-8C76-CAB9A3CD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00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रचना?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2D005-E870-43C5-BFFB-38CD0E33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1942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न्यायमूर्ती, नियुक्ती, खंडपीठे आणि प्रशासकीय नियंत्रण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6D81D-FDF4-46F0-A7F5-A445FAE3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48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D9782E"/>
                </a:solidFill>
              </a:defRPr>
            </a:pPr>
            <a:r>
              <a:rPr sz="2700" b="1">
                <a:solidFill>
                  <a:srgbClr val="D9782E"/>
                </a:solidFill>
              </a:rPr>
              <a:t>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61EE9-6A8A-4308-8CA8-68523C0B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अधिकारक्षेत्र?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A0A0D-5BFD-400B-9960-1535FF72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6717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मूळ, अपीलीय, रिट आणि सल्लागार अधिकारक्षेत्र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265FF1-2776-42EE-885F-FE97B7E7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287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52A36-1460-4453-987D-9EBEABC2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न्यायव्यवस्था नागरिकांचे हक्क, संविधान आणि कायद्याचे राज्य यांचे रक्षण करते.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E1653-64EF-4294-9063-E1EDA5B0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भारतीय न्यायव्यवस्था  |  शैक्षणिक सादरीकरण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FC458-F655-4648-97B9-1B0BC063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B6573"/>
                </a:solidFill>
              </a:defRPr>
            </a:pPr>
            <a:r>
              <a:rPr sz="900" b="1">
                <a:solidFill>
                  <a:srgbClr val="5B657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58343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2026-10-11T08:14:51.0280000Z</dcterms:created>
  <dcterms:modified xsi:type="dcterms:W3CDTF">2026-10-11T08:14:51.0280000Z</dcterms:modified>
</coreProperties>
</file>
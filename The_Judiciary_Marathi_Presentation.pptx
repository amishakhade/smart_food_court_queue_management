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01000" y="0"/>
            <a:ext cx="4187952" cy="6858000"/>
          </a:xfrm>
          <a:prstGeom prst="rect">
            <a:avLst/>
          </a:prstGeom>
          <a:solidFill>
            <a:srgbClr val="2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01000" y="0"/>
            <a:ext cx="164592" cy="685800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68580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E1AE49"/>
                </a:solidFill>
                <a:latin typeface="Nirmala UI"/>
              </a:defRPr>
            </a:pPr>
            <a:r>
              <a:t>भारतीय राज्यव्यवस्था •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685800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Nirmala UI"/>
              </a:defRPr>
            </a:pPr>
            <a:r>
              <a:t>THE JUDICIARY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658368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FFFFFF"/>
                </a:solidFill>
                <a:latin typeface="Nirmala UI"/>
              </a:defRPr>
            </a:pPr>
            <a:r>
              <a:t>भारतातील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6400800" cy="914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DAE5F1"/>
                </a:solidFill>
                <a:latin typeface="Nirmala UI"/>
              </a:defRPr>
            </a:pPr>
            <a:r>
              <a:t>वैशिष्ट्ये • न्यायालयांची श्रेणी • रचना • अधिकारक्षेत्र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12680" y="2057400"/>
            <a:ext cx="137160" cy="246888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732520" y="2148840"/>
            <a:ext cx="2743200" cy="118872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802368" y="1600200"/>
            <a:ext cx="566928" cy="566928"/>
          </a:xfrm>
          <a:prstGeom prst="ellipse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41080" y="2267712"/>
            <a:ext cx="36576" cy="96012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01200" y="2267712"/>
            <a:ext cx="36576" cy="96012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rc 13"/>
          <p:cNvSpPr/>
          <p:nvPr/>
        </p:nvSpPr>
        <p:spPr>
          <a:xfrm>
            <a:off x="8549640" y="2880360"/>
            <a:ext cx="1234440" cy="640080"/>
          </a:xfrm>
          <a:prstGeom prst="arc">
            <a:avLst>
              <a:gd name="adj1" fmla="val 25000"/>
              <a:gd name="adj2" fmla="val 0"/>
            </a:avLst>
          </a:prstGeom>
          <a:noFill/>
          <a:ln w="38100">
            <a:solidFill>
              <a:srgbClr val="E1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561319" y="2267712"/>
            <a:ext cx="36576" cy="96012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21440" y="2267712"/>
            <a:ext cx="36576" cy="96012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rc 16"/>
          <p:cNvSpPr/>
          <p:nvPr/>
        </p:nvSpPr>
        <p:spPr>
          <a:xfrm>
            <a:off x="10469880" y="2880360"/>
            <a:ext cx="1234440" cy="640080"/>
          </a:xfrm>
          <a:prstGeom prst="arc">
            <a:avLst>
              <a:gd name="adj1" fmla="val 25000"/>
              <a:gd name="adj2" fmla="val 0"/>
            </a:avLst>
          </a:prstGeom>
          <a:noFill/>
          <a:ln w="38100">
            <a:solidFill>
              <a:srgbClr val="E1A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4800600"/>
            <a:ext cx="338328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FFFFFF"/>
                </a:solidFill>
                <a:latin typeface="Nirmala UI"/>
              </a:defRPr>
            </a:pPr>
            <a:r>
              <a:t>न्याय • समानता • संविधान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59AB0A-F27C-9845-D158-90AD33F2314E}"/>
              </a:ext>
            </a:extLst>
          </p:cNvPr>
          <p:cNvSpPr txBox="1"/>
          <p:nvPr/>
        </p:nvSpPr>
        <p:spPr>
          <a:xfrm>
            <a:off x="934065" y="4800600"/>
            <a:ext cx="46408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Presented By: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   Amisha Khade(B30)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  Sai </a:t>
            </a:r>
            <a:r>
              <a:rPr lang="en-US" dirty="0" err="1">
                <a:solidFill>
                  <a:schemeClr val="bg1"/>
                </a:solidFill>
              </a:rPr>
              <a:t>Tambekar</a:t>
            </a:r>
            <a:r>
              <a:rPr lang="en-US" dirty="0">
                <a:solidFill>
                  <a:schemeClr val="bg1"/>
                </a:solidFill>
              </a:rPr>
              <a:t>(B63)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5.1 भारतातील न्यायव्यवस्थेची वैशिष्ट्ये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08813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83153"/>
                </a:solidFill>
                <a:latin typeface="Nirmala UI"/>
              </a:defRPr>
            </a:pPr>
            <a:r>
              <a:t>न्यायव्यवस्था नागरिकांना न्याय देते आणि संविधानातील मूल्यांचे संरक्षण करते.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333756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103120"/>
            <a:ext cx="109728" cy="15087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240279"/>
            <a:ext cx="292607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153"/>
                </a:solidFill>
                <a:latin typeface="Nirmala UI"/>
              </a:defRPr>
            </a:pPr>
            <a:r>
              <a:t>स्वतंत्र न्यायव्यवस्था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24912"/>
            <a:ext cx="2926079" cy="7955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440"/>
                </a:solidFill>
                <a:latin typeface="Nirmala UI"/>
              </a:defRPr>
            </a:pPr>
            <a:r>
              <a:t>न्यायाधीश कायद्यानुसार स्वतंत्रपणे निर्णय देतात.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103120"/>
            <a:ext cx="333756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2103120"/>
            <a:ext cx="109728" cy="15087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0872" y="2240279"/>
            <a:ext cx="292607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153"/>
                </a:solidFill>
                <a:latin typeface="Nirmala UI"/>
              </a:defRPr>
            </a:pPr>
            <a:r>
              <a:t>एकात्मिक रचना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24912"/>
            <a:ext cx="2926079" cy="7955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440"/>
                </a:solidFill>
                <a:latin typeface="Nirmala UI"/>
              </a:defRPr>
            </a:pPr>
            <a:r>
              <a:t>सर्वोच्च न्यायालयापासून अधीनस्थ न्यायालयांपर्यंत साखळी.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103120"/>
            <a:ext cx="333756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109728" cy="15087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85632" y="2240279"/>
            <a:ext cx="292607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153"/>
                </a:solidFill>
                <a:latin typeface="Nirmala UI"/>
              </a:defRPr>
            </a:pPr>
            <a:r>
              <a:t>कायद्यापुढे समानता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724912"/>
            <a:ext cx="2926079" cy="7955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440"/>
                </a:solidFill>
                <a:latin typeface="Nirmala UI"/>
              </a:defRPr>
            </a:pPr>
            <a:r>
              <a:t>प्रत्येक व्यक्तीला कायद्याचे समान संरक्षण.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69080"/>
            <a:ext cx="333756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4069080"/>
            <a:ext cx="109728" cy="15087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6112" y="4206240"/>
            <a:ext cx="292607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153"/>
                </a:solidFill>
                <a:latin typeface="Nirmala UI"/>
              </a:defRPr>
            </a:pPr>
            <a:r>
              <a:t>निष्पक्ष सुनावणी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90872"/>
            <a:ext cx="2926079" cy="7955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440"/>
                </a:solidFill>
                <a:latin typeface="Nirmala UI"/>
              </a:defRPr>
            </a:pPr>
            <a:r>
              <a:t>दोन्ही बाजू ऐकून पुराव्यांच्या आधारे निर्णय.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4069080"/>
            <a:ext cx="333756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4069080"/>
            <a:ext cx="109728" cy="15087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90872" y="4206240"/>
            <a:ext cx="292607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153"/>
                </a:solidFill>
                <a:latin typeface="Nirmala UI"/>
              </a:defRPr>
            </a:pPr>
            <a:r>
              <a:t>न्यायालयीन पुनर्विलोकन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690872"/>
            <a:ext cx="2926079" cy="7955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440"/>
                </a:solidFill>
                <a:latin typeface="Nirmala UI"/>
              </a:defRPr>
            </a:pPr>
            <a:r>
              <a:t>कायदे व सरकारी निर्णयांची घटनात्मक वैधता तपासणे.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069080"/>
            <a:ext cx="333756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4069080"/>
            <a:ext cx="109728" cy="15087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85632" y="4206240"/>
            <a:ext cx="2926079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153"/>
                </a:solidFill>
                <a:latin typeface="Nirmala UI"/>
              </a:defRPr>
            </a:pPr>
            <a:r>
              <a:t>अधिकारांचे संरक्षण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4690872"/>
            <a:ext cx="2926079" cy="79552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440"/>
                </a:solidFill>
                <a:latin typeface="Nirmala UI"/>
              </a:defRPr>
            </a:pPr>
            <a:r>
              <a:t>नागरिकांच्या मूलभूत अधिकारांसाठी न्यायालयीन उपाय.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स्वातंत्र्य आणि निष्पक्षता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INDEPENDENCE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035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728" cy="182880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83153"/>
                </a:solidFill>
                <a:latin typeface="Nirmala UI"/>
              </a:defRPr>
            </a:pPr>
            <a:r>
              <a:t>न्यायव्यवस्थेचे स्वातंत्र्य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4892040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न्यायालये कार्यपालिका किंवा राजकीय दबावापासून स्वतंत्र राहून संविधान व कायद्यानुसार निर्णय देतात.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03520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109728" cy="182880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554480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83153"/>
                </a:solidFill>
                <a:latin typeface="Nirmala UI"/>
              </a:defRPr>
            </a:pPr>
            <a:r>
              <a:t>निष्पक्ष न्याय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39112"/>
            <a:ext cx="4892040" cy="11155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न्यायाधीशांनी कोणत्याही पक्षाचा पक्षपात न करता पुरावे, कायदा आणि दोन्ही बाजूंचे म्हणणे विचारात घ्यावे.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83153"/>
                </a:solidFill>
                <a:latin typeface="Nirmala UI"/>
              </a:defRPr>
            </a:pPr>
            <a:r>
              <a:t>हे महत्त्वाचे का आहे?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41655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297680"/>
            <a:ext cx="10104120" cy="4846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नागरिकांचा न्यायव्यवस्थेवरील विश्वास वाढतो.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91947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800600"/>
            <a:ext cx="10104120" cy="4846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सत्तेचा गैरवापर रोखण्यास मदत होते.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42239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303520"/>
            <a:ext cx="10104120" cy="4846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सर्वांना न्याय मिळण्याची समान संधी मिळते.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संविधान आणि मूलभूत अधिकारांचे संरक्षण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CONSTITUTION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109728" cy="1965960"/>
          </a:xfrm>
          <a:prstGeom prst="rect">
            <a:avLst/>
          </a:prstGeom>
          <a:solidFill>
            <a:srgbClr val="2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554480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83153"/>
                </a:solidFill>
                <a:latin typeface="Nirmala UI"/>
              </a:defRPr>
            </a:pPr>
            <a:r>
              <a:t>संविधानाचे संरक्षण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संविधान हे देशाचे सर्वोच्च कायदेशीर दस्तऐवज आहे. न्यायालये कायदे व सरकारी कृती संविधानाशी सुसंगत आहेत का ते तपासतात.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417320"/>
            <a:ext cx="109728" cy="1965960"/>
          </a:xfrm>
          <a:prstGeom prst="rect">
            <a:avLst/>
          </a:prstGeom>
          <a:solidFill>
            <a:srgbClr val="337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554480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83153"/>
                </a:solidFill>
                <a:latin typeface="Nirmala UI"/>
              </a:defRPr>
            </a:pPr>
            <a:r>
              <a:t>मूलभूत अधिकार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3911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समता, स्वातंत्र्य आणि इतर मूलभूत अधिकारांचे उल्लंघन झाल्यास नागरिक योग्य न्यायालयात दाद मागू शकतात.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104241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83153"/>
                </a:solidFill>
                <a:latin typeface="Nirmala UI"/>
              </a:defRPr>
            </a:pPr>
            <a:r>
              <a:t>लक्षात ठेवण्यासारखे मुद्दे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46227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343400"/>
            <a:ext cx="10012680" cy="454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अनुच्छेद 32: मूलभूत अधिकारांच्या अंमलबजावणीसाठी सर्वोच्च न्यायालयात दाद.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93471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815840"/>
            <a:ext cx="10012680" cy="454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अनुच्छेद 226: उच्च न्यायालयांना मूलभूत तसेच इतर कायदेशीर अधिकारांसाठी लेख जारी करता येतात.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40715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288280"/>
            <a:ext cx="10012680" cy="4541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न्यायालयीन पुनर्विलोकनामुळे संविधानाचे सर्वोच्चत्व टिकते.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भारतातील न्यायालयांची श्रेणी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417320"/>
            <a:ext cx="10058400" cy="960120"/>
          </a:xfrm>
          <a:prstGeom prst="round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39" y="1508760"/>
            <a:ext cx="969264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Nirmala UI"/>
              </a:defRPr>
            </a:pPr>
            <a:r>
              <a:t>सर्वोच्च न्यायालय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39" y="1901952"/>
            <a:ext cx="9692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FFFFF"/>
                </a:solidFill>
                <a:latin typeface="Nirmala UI"/>
              </a:defRPr>
            </a:pPr>
            <a:r>
              <a:t>देशातील सर्वोच्च न्यायिक प्राधिकरण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74519" y="2880360"/>
            <a:ext cx="8412480" cy="960120"/>
          </a:xfrm>
          <a:prstGeom prst="roundRect">
            <a:avLst/>
          </a:prstGeom>
          <a:solidFill>
            <a:srgbClr val="2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57400" y="2971800"/>
            <a:ext cx="8046719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Nirmala UI"/>
              </a:defRPr>
            </a:pPr>
            <a:r>
              <a:t>उच्च न्यायालये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364991"/>
            <a:ext cx="8046719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FFFFF"/>
                </a:solidFill>
                <a:latin typeface="Nirmala UI"/>
              </a:defRPr>
            </a:pPr>
            <a:r>
              <a:t>राज्य किंवा संबंधित प्रदेशाच्या स्तरावर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4343400"/>
            <a:ext cx="6766560" cy="960120"/>
          </a:xfrm>
          <a:prstGeom prst="round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4434840"/>
            <a:ext cx="640080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100" b="1">
                <a:solidFill>
                  <a:srgbClr val="FFFFFF"/>
                </a:solidFill>
                <a:latin typeface="Nirmala UI"/>
              </a:defRPr>
            </a:pPr>
            <a:r>
              <a:t>जिल्हा व अधीनस्थ न्यायालये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828032"/>
            <a:ext cx="64008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FFFFFF"/>
                </a:solidFill>
                <a:latin typeface="Nirmala UI"/>
              </a:defRPr>
            </a:pPr>
            <a:r>
              <a:t>जिल्हा आणि तालुका स्तरावरील प्रकरणे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395728"/>
            <a:ext cx="10058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E1AE49"/>
                </a:solidFill>
                <a:latin typeface="Nirmala UI"/>
              </a:defRPr>
            </a:pPr>
            <a: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858768"/>
            <a:ext cx="10058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E1AE49"/>
                </a:solidFill>
                <a:latin typeface="Nirmala UI"/>
              </a:defRPr>
            </a:pPr>
            <a: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F6D7D"/>
                </a:solidFill>
                <a:latin typeface="Nirmala UI"/>
              </a:defRPr>
            </a:pPr>
            <a:r>
              <a:t>टीप: दिवाणी आणि फौजदारी प्रकरणांमध्ये अधीनस्थ न्यायालयांची अंतर्गत रचना वेगळी असू शकते.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सर्वोच्च न्यायालय: रचना आणि अधिकारक्षेत्र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SUPREME COURT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1965960"/>
          </a:xfrm>
          <a:prstGeom prst="rect">
            <a:avLst/>
          </a:prstGeom>
          <a:solidFill>
            <a:srgbClr val="2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63039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83153"/>
                </a:solidFill>
                <a:latin typeface="Nirmala UI"/>
              </a:defRPr>
            </a:pPr>
            <a:r>
              <a:t>रचना (Composition)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नवी दिल्ली येथे मुख्यालय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भारताचे सरन्यायाधीश आणि इतर न्यायाधीश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सर्वोच्च न्यायिक प्राधिकरण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109728" cy="19659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463039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83153"/>
                </a:solidFill>
                <a:latin typeface="Nirmala UI"/>
              </a:defRPr>
            </a:pPr>
            <a:r>
              <a:t>अधिकारक्षेत्र (Jurisdiction)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4767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केंद्र–राज्यांतील काही वाद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उच्च न्यायालयांच्या निर्णयांवरील अपील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राष्ट्रपतींना सल्ला देण्याचे अधिकार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अनुच्छेद 32 अंतर्गत मूलभूत अधिकारांचे संरक्षण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83153"/>
                </a:solidFill>
                <a:latin typeface="Nirmala UI"/>
              </a:defRPr>
            </a:pPr>
            <a:r>
              <a:t>मुख्य भूमिका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32511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40"/>
            <a:ext cx="10012680" cy="4998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संविधानाचा अर्थ स्पष्ट करणे आणि घटनात्मक प्रश्न सोडवणे.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843271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724399"/>
            <a:ext cx="10012680" cy="4998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महत्त्वाच्या प्रकरणांमध्ये अंतिम अपीलीय न्यायालय म्हणून काम करणे.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61431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242559"/>
            <a:ext cx="10012680" cy="4998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योग्य प्रकरणांत न्यायालयीन लेख (Writs) जारी करणे.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उच्च न्यायालय: रचना आणि अधिकारक्षेत्र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HIGH COURT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1965960"/>
          </a:xfrm>
          <a:prstGeom prst="rect">
            <a:avLst/>
          </a:prstGeom>
          <a:solidFill>
            <a:srgbClr val="2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63039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83153"/>
                </a:solidFill>
                <a:latin typeface="Nirmala UI"/>
              </a:defRPr>
            </a:pPr>
            <a:r>
              <a:t>रचना (Composition)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प्रत्येक राज्यासाठी उच्च न्यायालय असते; काहींचे अधिकारक्षेत्र अनेक राज्ये/केंद्रशासित प्रदेशांवर असते.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मुख्य न्यायाधीश आणि इतर न्यायाधीश.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अधीनस्थ न्यायालयांवर देखरेख.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109728" cy="19659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463039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183153"/>
                </a:solidFill>
                <a:latin typeface="Nirmala UI"/>
              </a:defRPr>
            </a:pPr>
            <a:r>
              <a:t>अधिकारक्षेत्र (Jurisdiction)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4767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अधीनस्थ न्यायालयांच्या निर्णयांवरील अपील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काही प्रकरणांत मूळ अधिकारक्षेत्र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अनुच्छेद 226 अंतर्गत लेख जारी करणे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440"/>
                </a:solidFill>
                <a:latin typeface="Nirmala UI"/>
              </a:defRPr>
            </a:pPr>
            <a:r>
              <a:t>• अधीनस्थ न्यायालयांवर न्यायिक व प्रशासकीय नियंत्रण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83153"/>
                </a:solidFill>
                <a:latin typeface="Nirmala UI"/>
              </a:defRPr>
            </a:pPr>
            <a:r>
              <a:t>उदाहरण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24528"/>
            <a:ext cx="1024128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मुंबई उच्च न्यायालय हे महाराष्ट्र, गोवा आणि काही केंद्रशासित प्रदेशांसाठी लागू असलेल्या अधिकारक्षेत्रात काम करते. विशिष्ट प्रकरण कोणत्या न्यायालयात जाईल हे कायद्यावर अवलंबून असते.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जिल्हा आणि अधीनस्थ न्यायालये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DISTRICT COURTS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109728" cy="1965960"/>
          </a:xfrm>
          <a:prstGeom prst="rect">
            <a:avLst/>
          </a:prstGeom>
          <a:solidFill>
            <a:srgbClr val="2C5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463039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83153"/>
                </a:solidFill>
                <a:latin typeface="Nirmala UI"/>
              </a:defRPr>
            </a:pPr>
            <a:r>
              <a:t>रचना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94767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जिल्हा न्यायालये आणि सत्र न्यायालये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दिवाणी न्यायाधीश व न्यायिक दंडाधिकारी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जिल्हा/तालुका स्तरावर नागरिकांना न्यायसेवा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30352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25880"/>
            <a:ext cx="109728" cy="1965960"/>
          </a:xfrm>
          <a:prstGeom prst="rect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2" y="1463039"/>
            <a:ext cx="48920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183153"/>
                </a:solidFill>
                <a:latin typeface="Nirmala UI"/>
              </a:defRPr>
            </a:pPr>
            <a:r>
              <a:t>कामकाज आणि अधिकारक्षेत्र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1947672"/>
            <a:ext cx="4892040" cy="12527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मालमत्ता व करारविषयक दिवाणी वाद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गुन्ह्यांशी संबंधित फौजदारी खटले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साक्षीदार व पुरावे तपासणे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440"/>
                </a:solidFill>
                <a:latin typeface="Nirmala UI"/>
              </a:defRPr>
            </a:pPr>
            <a:r>
              <a:t>• कायद्यानुसार निर्णय व शिक्षा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515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83153"/>
                </a:solidFill>
                <a:latin typeface="Nirmala UI"/>
              </a:defRPr>
            </a:pPr>
            <a:r>
              <a:t>सामान्य उदाहरणे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32511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4206240"/>
            <a:ext cx="10012680" cy="4998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जमीन किंवा मालमत्तेचा वाद.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843271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724399"/>
            <a:ext cx="10012680" cy="4998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पैशांची वसुली किंवा कराराशी संबंधित वाद.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361431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5242559"/>
            <a:ext cx="10012680" cy="49987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2A3440"/>
                </a:solidFill>
                <a:latin typeface="Nirmala UI"/>
              </a:defRPr>
            </a:pPr>
            <a:r>
              <a:t>चोरी, फसवणूक किंवा इतर गुन्ह्यांशी संबंधित खटले.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न्यायालयांची तुलना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2148840" cy="868680"/>
          </a:xfrm>
          <a:prstGeom prst="rect">
            <a:avLst/>
          </a:prstGeom>
          <a:solidFill>
            <a:srgbClr val="183153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19" y="1490472"/>
            <a:ext cx="196596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न्यायालय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17320"/>
            <a:ext cx="3703320" cy="868680"/>
          </a:xfrm>
          <a:prstGeom prst="rect">
            <a:avLst/>
          </a:prstGeom>
          <a:solidFill>
            <a:srgbClr val="183153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80360" y="1490472"/>
            <a:ext cx="3520439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रचना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17320"/>
            <a:ext cx="5029200" cy="868680"/>
          </a:xfrm>
          <a:prstGeom prst="rect">
            <a:avLst/>
          </a:prstGeom>
          <a:solidFill>
            <a:srgbClr val="183153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79" y="1490472"/>
            <a:ext cx="484632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FFFFF"/>
                </a:solidFill>
                <a:latin typeface="Nirmala UI"/>
              </a:defRPr>
            </a:pPr>
            <a:r>
              <a:t>मुख्य अधिकारक्षेत्र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86000"/>
            <a:ext cx="21488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19" y="2359152"/>
            <a:ext cx="196596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सर्वोच्च न्यायालय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88920" y="2286000"/>
            <a:ext cx="3703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80360" y="2359152"/>
            <a:ext cx="3520439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सरन्यायाधीश व इतर न्यायाधीश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86000"/>
            <a:ext cx="5029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2359152"/>
            <a:ext cx="484632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घटनात्मक प्रश्न, अपील, केंद्र–राज्य वाद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154680"/>
            <a:ext cx="2148840" cy="868680"/>
          </a:xfrm>
          <a:prstGeom prst="rect">
            <a:avLst/>
          </a:prstGeom>
          <a:solidFill>
            <a:srgbClr val="E7EFF6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19" y="3227832"/>
            <a:ext cx="196596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उच्च न्यायालय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88920" y="3154680"/>
            <a:ext cx="3703320" cy="868680"/>
          </a:xfrm>
          <a:prstGeom prst="rect">
            <a:avLst/>
          </a:prstGeom>
          <a:solidFill>
            <a:srgbClr val="E7EFF6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0360" y="3227832"/>
            <a:ext cx="3520439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मुख्य न्यायाधीश व इतर न्यायाधीश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154680"/>
            <a:ext cx="5029200" cy="868680"/>
          </a:xfrm>
          <a:prstGeom prst="rect">
            <a:avLst/>
          </a:prstGeom>
          <a:solidFill>
            <a:srgbClr val="E7EFF6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9" y="3227832"/>
            <a:ext cx="484632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अपील, लेख, अधीनस्थ न्यायालयांवर देखरेख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59"/>
            <a:ext cx="21488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19" y="4096511"/>
            <a:ext cx="196596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जिल्हा/अधीनस्थ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4023359"/>
            <a:ext cx="3703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80360" y="4096511"/>
            <a:ext cx="3520439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जिल्हा/सत्र न्यायाधीश व इतर न्यायिक अधिकारी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4023359"/>
            <a:ext cx="502920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DD8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83679" y="4096511"/>
            <a:ext cx="4846320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440"/>
                </a:solidFill>
                <a:latin typeface="Nirmala UI"/>
              </a:defRPr>
            </a:pPr>
            <a:r>
              <a:t>स्थानिक दिवाणी व फौजदारी प्रकरणे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257800"/>
            <a:ext cx="1042416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83153"/>
                </a:solidFill>
                <a:latin typeface="Nirmala UI"/>
              </a:defRPr>
            </a:pPr>
            <a:r>
              <a:t>अधिकारक्षेत्र म्हणजे एखाद्या न्यायालयाला कायद्याने दिलेला खटला ऐकण्याचा आणि त्यावर निर्णय देण्याचा अधिकार.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1831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607040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>
              <a:spcAft>
                <a:spcPts val="800"/>
              </a:spcAft>
              <a:defRPr sz="2700" b="1">
                <a:solidFill>
                  <a:srgbClr val="FFFFFF"/>
                </a:solidFill>
                <a:latin typeface="Nirmala UI"/>
              </a:defRPr>
            </a:pPr>
            <a:r>
              <a:t>निष्कर्ष (Conclusion)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0" y="749808"/>
            <a:ext cx="173736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1">
                <a:solidFill>
                  <a:srgbClr val="E1AE49"/>
                </a:solidFill>
                <a:latin typeface="Nirmala UI"/>
              </a:defRPr>
            </a:pPr>
            <a: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37960"/>
            <a:ext cx="11155680" cy="22860"/>
          </a:xfrm>
          <a:prstGeom prst="rect">
            <a:avLst/>
          </a:prstGeom>
          <a:solidFill>
            <a:srgbClr val="E1A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65392"/>
            <a:ext cx="914400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F6D7D"/>
                </a:solidFill>
                <a:latin typeface="Nirmala UI"/>
              </a:defRPr>
            </a:pPr>
            <a:r>
              <a:t>THE JUDICIARY • भारतीय न्यायव्यवस्था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556248"/>
            <a:ext cx="5029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1000" b="0">
                <a:solidFill>
                  <a:srgbClr val="5F6D7D"/>
                </a:solidFill>
                <a:latin typeface="Nirmala UI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42416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183153"/>
                </a:solidFill>
                <a:latin typeface="Nirmala UI"/>
              </a:defRPr>
            </a:pPr>
            <a:r>
              <a:t>भारतीय न्यायव्यवस्था लोकशाही आणि कायद्याच्या राज्याचा महत्त्वाचा आधार आहे.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263347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2514600"/>
            <a:ext cx="9646920" cy="576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2A3440"/>
                </a:solidFill>
                <a:latin typeface="Nirmala UI"/>
              </a:defRPr>
            </a:pPr>
            <a:r>
              <a:t>न्यायालये नागरिकांच्या अधिकारांचे संरक्षण करतात.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322783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3108960"/>
            <a:ext cx="9646920" cy="576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2A3440"/>
                </a:solidFill>
                <a:latin typeface="Nirmala UI"/>
              </a:defRPr>
            </a:pPr>
            <a:r>
              <a:t>स्वतंत्र व निष्पक्ष न्यायामुळे कायद्यावरील विश्वास टिकतो.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3822191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71600" y="3703320"/>
            <a:ext cx="9646920" cy="576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2A3440"/>
                </a:solidFill>
                <a:latin typeface="Nirmala UI"/>
              </a:defRPr>
            </a:pPr>
            <a:r>
              <a:t>न्यायालयांची श्रेणी विविध प्रकारचे खटले योग्य स्तरावर हाताळते.</a:t>
            </a:r>
          </a:p>
        </p:txBody>
      </p:sp>
      <p:sp>
        <p:nvSpPr>
          <p:cNvPr id="15" name="Oval 14"/>
          <p:cNvSpPr/>
          <p:nvPr/>
        </p:nvSpPr>
        <p:spPr>
          <a:xfrm>
            <a:off x="1143000" y="4416552"/>
            <a:ext cx="118872" cy="118872"/>
          </a:xfrm>
          <a:prstGeom prst="ellipse">
            <a:avLst/>
          </a:prstGeom>
          <a:solidFill>
            <a:srgbClr val="22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4297680"/>
            <a:ext cx="9646920" cy="5760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2A3440"/>
                </a:solidFill>
                <a:latin typeface="Nirmala UI"/>
              </a:defRPr>
            </a:pPr>
            <a:r>
              <a:t>संविधानाचे सर्वोच्चत्व राखणे ही न्यायव्यवस्थेची महत्त्वाची भूमिका आहे.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800"/>
              </a:spcAft>
              <a:defRPr sz="2500" b="1">
                <a:solidFill>
                  <a:srgbClr val="227E7E"/>
                </a:solidFill>
                <a:latin typeface="Nirmala UI"/>
              </a:defRPr>
            </a:pPr>
            <a:r>
              <a:t>धन्यवाद!  •  काही प्रश्न आहेत का?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712</Words>
  <Application>Microsoft Office PowerPoint</Application>
  <PresentationFormat>Widescreen</PresentationFormat>
  <Paragraphs>138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amishakhade17@gmail.com</cp:lastModifiedBy>
  <cp:revision>2</cp:revision>
  <dcterms:created xsi:type="dcterms:W3CDTF">2013-01-27T09:14:16Z</dcterms:created>
  <dcterms:modified xsi:type="dcterms:W3CDTF">2026-10-10T05:56:37Z</dcterms:modified>
  <cp:category/>
</cp:coreProperties>
</file>